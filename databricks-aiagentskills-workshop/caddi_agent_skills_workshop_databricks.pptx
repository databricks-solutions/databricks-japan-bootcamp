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88950"/>
  <p:notesSz cx="6858000" cy="9144000"/>
  <p:embeddedFontLst>
    <p:embeddedFont>
      <p:font typeface="DM Sans Medium"/>
      <p:regular r:id="rId22"/>
      <p:bold r:id="rId23"/>
      <p:italic r:id="rId24"/>
      <p:boldItalic r:id="rId25"/>
    </p:embeddedFont>
    <p:embeddedFont>
      <p:font typeface="DM Mono Medium"/>
      <p:regular r:id="rId26"/>
      <p: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3839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gSrydWmY6yoUsA54o1OsvgYS8x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DMSansMedium-regular.fntdata"/><Relationship Id="rId21" Type="http://schemas.openxmlformats.org/officeDocument/2006/relationships/slide" Target="slides/slide16.xml"/><Relationship Id="rId24" Type="http://schemas.openxmlformats.org/officeDocument/2006/relationships/font" Target="fonts/DMSansMedium-italic.fntdata"/><Relationship Id="rId23" Type="http://schemas.openxmlformats.org/officeDocument/2006/relationships/font" Target="fonts/DMSa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MonoMedium-regular.fntdata"/><Relationship Id="rId25" Type="http://schemas.openxmlformats.org/officeDocument/2006/relationships/font" Target="fonts/DMSansMedium-boldItalic.fntdata"/><Relationship Id="rId28" Type="http://schemas.openxmlformats.org/officeDocument/2006/relationships/font" Target="fonts/DMSans-regular.fntdata"/><Relationship Id="rId27" Type="http://schemas.openxmlformats.org/officeDocument/2006/relationships/font" Target="fonts/DMMono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皆さん、こんにちは。本日のセットアップとデモを担当するHaleyです。Agent Skillsのセットアップ方法と、Claude Codeで作成した図面PDF解析アプリのデモをご紹介します。</a:t>
            </a:r>
            <a:endParaRPr/>
          </a:p>
        </p:txBody>
      </p:sp>
      <p:sp>
        <p:nvSpPr>
          <p:cNvPr id="307" name="Google Shape;307;p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ai_dev_kitはコミュニティの皆さんと育ててきたプロジェクトでした。今回、その内容がそのままDatabricks公式（1st Party）のai_agent_skillsに統合されました。スキルの内容は変わりませんので、これまで培ってきたノウハウはそのまま活きます。</a:t>
            </a:r>
            <a:endParaRPr/>
          </a:p>
        </p:txBody>
      </p:sp>
      <p:sp>
        <p:nvSpPr>
          <p:cNvPr id="314" name="Google Shape;314;p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主な違いを7点まとめました。とはいえ、全部を覚える必要はありません。一番大きいのはリポの管理が公式になったこと、そしてインストール方法が databricks aitools install に統一されたことの2点です。対応エージェントもCursor・Codex・Copilotなどに広がっています。Commands &amp; Hooksについては後半の上級者向けパートで改めてご紹介します。</a:t>
            </a:r>
            <a:endParaRPr/>
          </a:p>
        </p:txBody>
      </p:sp>
      <p:sp>
        <p:nvSpPr>
          <p:cNvPr id="321" name="Google Shape;321;p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b869bc8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さっき「Commands が増えました」ってお話ししましたよね。ここで、Skills と Commands、この2つだけ軽く整理しておきましょうか。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▎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▎ まず Skills。これは Claude に渡す「知識」みたいなものだと思ってください。たとえば「アプリ作って」ってお願いすると、それに必要なやり方を Claude のほうで自然と読み込んでくれるんです。なので、皆さんが細かく指示しなくても大丈夫。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▎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▎ もう一つの Commands は、「ボタン一発で動く定型作業」ですね。/databricks:setup みたいにちょっと打つだけで、決まった手順がスッと走ってくれます。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▎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▎ 難しく考えなくて大丈夫です。Skills は「知っている」、Commands は「すぐ実行できる」。ふんわりこのイメージだけ持って帰っていただければ、それで十分ですよ。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8b869bc84d_0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8b869bc84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表がびっしり並んでますけど、全部読まなくて大丈夫です。さらっとポイントだけ見ていきましょう。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▎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▎ 左の Skills、これはもう自動で効いてくれます。「アプリ作って」の一言で、関係する知識がまとめて働いてくれるんですね。だから、初めての方でも特に意識しなくても、ちゃんと恩恵を受けられます。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▎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▎ 右の Commands は、やりたいことを一発で。/databricks:setup で認証の設定、/databricks:doctor で動作チェック、みたいな感じです。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▎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▎ 一つだけ、頭の片隅に置いておいてほしいのが——Commands は Plugin を入れたときだけ使えます。ここだけ覚えておいてくださいね。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▎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▎ というわけで、まとめると——普段は Skills が勝手に支えてくれるので、そのままで大丈夫。もうちょっと使い込んでみたいなという方は、Plugin で Commands も試してみる。今日はいい機会なので、ぜひ気軽に触ってみてください。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8b869bc84d_0_1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まずCLIのバージョン確認から。v1.0.0以上が入っていれば準備OKです。macOSはHomebrewが手軽でおすすめです。brew trust が必要かどうかは環境次第なので、エラーが出たら追加してください。Windowsの方はwingetで同じように入ります。</a:t>
            </a:r>
            <a:endParaRPr/>
          </a:p>
        </p:txBody>
      </p:sp>
      <p:sp>
        <p:nvSpPr>
          <p:cNvPr id="345" name="Google Shape;345;p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接続設定はシンプルです。~/.databrickscfg にホストとトークンを書くだけ。トークン方式はセッション切れの心配がなく、一度設定すれば使い続けられます。Claude Codeはこのファイルを自動で読み込むので、追加設定は不要です。</a:t>
            </a:r>
            <a:endParaRPr/>
          </a:p>
        </p:txBody>
      </p:sp>
      <p:sp>
        <p:nvSpPr>
          <p:cNvPr id="355" name="Google Shape;355;p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インストールは databricks aitools install の一行で完了します。あとは list で確認、update で更新、必要なら uninstall と、管理コマンドも直感的です。ai_dev_kitをお使いの方は、一度アンインストールしてからクリーンインストールをおすすめします。移行パスも今後提供予定です。</a:t>
            </a:r>
            <a:endParaRPr/>
          </a:p>
        </p:txBody>
      </p:sp>
      <p:sp>
        <p:nvSpPr>
          <p:cNvPr id="365" name="Google Shape;365;p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Claude Codeがなくても大丈夫です。CursorはAgent Skillsに対応していて、無料プランでも十分使えるのでおすすめです。VS Codeをお使いの方はGitHub Copilotでそのまま使えます。まだエージェントを入れていない方は、Cursorをダウンロードするか、ブラウザだけで完結するGenie Codeも選択肢です。</a:t>
            </a:r>
            <a:endParaRPr/>
          </a:p>
        </p:txBody>
      </p:sp>
      <p:sp>
        <p:nvSpPr>
          <p:cNvPr id="375" name="Google Shape;375;p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Stableスキルは現在28個あります。一覧を見ると多く感じるかもしれませんが、今日のデモで実際に使うのはこの中の3つ——Apps・Lakebase・AI Functionsです。この3つがどう連携するかを、デモを通してお見せします。</a:t>
            </a:r>
            <a:endParaRPr/>
          </a:p>
        </p:txBody>
      </p:sp>
      <p:sp>
        <p:nvSpPr>
          <p:cNvPr id="385" name="Google Shape;385;p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今日お見せするのは、図面PDFを解析するアプリです。事前にClaude Codeへの指示だけで構築しました。デモはアプリの動作確認から始めて、裏側でどんなリソースが作られたかを確認し、最後に実際に使ったプロンプトをご紹介します。</a:t>
            </a:r>
            <a:endParaRPr/>
          </a:p>
        </p:txBody>
      </p:sp>
      <p:sp>
        <p:nvSpPr>
          <p:cNvPr id="395" name="Google Shape;395;p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画面に並んでいるリソースは、すべてClaude Codeへの自然言語の指示だけで作られました。App・Volume・Lakebase Table——コードを手書きせずに、ここまで揃います。実際にWorkspaceで確認してみましょう。</a:t>
            </a:r>
            <a:endParaRPr/>
          </a:p>
        </p:txBody>
      </p:sp>
      <p:sp>
        <p:nvSpPr>
          <p:cNvPr id="402" name="Google Shape;402;p1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1でアプリ本体、Step2で検索エンドポイントを追加しました。プロンプトが長く見えますが、ほとんどは「ここでよくハマる」という情報です。それを先に書いておくことでワンショットに近い形で完成します。知識がそのままプロンプトの精度になる、というのがAgent Skills＋vibe codingの組み合わせの面白いところです。</a:t>
            </a:r>
            <a:endParaRPr/>
          </a:p>
        </p:txBody>
      </p:sp>
      <p:sp>
        <p:nvSpPr>
          <p:cNvPr id="409" name="Google Shape;409;p1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SkillsありとなしでAIが出すコードの質が変わります。Databricks固有の正しい書き方が最初から出てくる——これは初心者だけでなく、Advancedユーザーが「毎回調べる手間」を省く意味でも価値があります。</a:t>
            </a:r>
            <a:endParaRPr/>
          </a:p>
        </p:txBody>
      </p:sp>
      <p:sp>
        <p:nvSpPr>
          <p:cNvPr id="419" name="Google Shape;419;p1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ai_dev_kitをお使いの方は、アンインストールしてから databricks aitools install でクリーンインストールをおすすめします。手順としては2ステップだけです。ただ、一番伝えたいのは右側です。スキルの内容は変わっていません。これまで使ってきた知識は、そのまま新しい環境でも活きます。</a:t>
            </a:r>
            <a:endParaRPr/>
          </a:p>
        </p:txBody>
      </p:sp>
      <p:sp>
        <p:nvSpPr>
          <p:cNvPr id="429" name="Google Shape;429;p1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まとめは一言——databricks aitools install で始めてください。上級者の方はPlugin方式でCommands &amp; Hooksまで。リポとドキュメントのリンクも載せていますので、ぜひ。もし、うまくいかない方は手をあげてくださいー！！</a:t>
            </a:r>
            <a:endParaRPr/>
          </a:p>
        </p:txBody>
      </p:sp>
      <p:sp>
        <p:nvSpPr>
          <p:cNvPr id="439" name="Google Shape;439;p1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gif"/><Relationship Id="rId5" Type="http://schemas.openxmlformats.org/officeDocument/2006/relationships/image" Target="../media/image3.gif"/><Relationship Id="rId6" Type="http://schemas.openxmlformats.org/officeDocument/2006/relationships/image" Target="../media/image2.gif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gif"/><Relationship Id="rId3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7.gif"/><Relationship Id="rId4" Type="http://schemas.openxmlformats.org/officeDocument/2006/relationships/image" Target="../media/image12.gif"/><Relationship Id="rId5" Type="http://schemas.openxmlformats.org/officeDocument/2006/relationships/image" Target="../media/image8.gif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31.png"/><Relationship Id="rId4" Type="http://schemas.openxmlformats.org/officeDocument/2006/relationships/image" Target="../media/image2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7.gif"/><Relationship Id="rId4" Type="http://schemas.openxmlformats.org/officeDocument/2006/relationships/image" Target="../media/image12.gif"/><Relationship Id="rId5" Type="http://schemas.openxmlformats.org/officeDocument/2006/relationships/image" Target="../media/image8.gif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itle Slide B - Light 2">
  <p:cSld name="3 Title Slide B - Light 2">
    <p:bg>
      <p:bgPr>
        <a:solidFill>
          <a:schemeClr val="dk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/>
          <p:nvPr/>
        </p:nvSpPr>
        <p:spPr>
          <a:xfrm>
            <a:off x="528750" y="6387025"/>
            <a:ext cx="3081900" cy="32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" name="Google Shape;29;p16"/>
          <p:cNvSpPr txBox="1"/>
          <p:nvPr>
            <p:ph type="ctrTitle"/>
          </p:nvPr>
        </p:nvSpPr>
        <p:spPr>
          <a:xfrm>
            <a:off x="761815" y="1186975"/>
            <a:ext cx="6170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1" name="Google Shape;3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" name="Google Shape;32;p16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16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4" name="Google Shape;34;p16"/>
          <p:cNvPicPr preferRelativeResize="0"/>
          <p:nvPr/>
        </p:nvPicPr>
        <p:blipFill rotWithShape="1">
          <a:blip r:embed="rId3">
            <a:alphaModFix/>
          </a:blip>
          <a:srcRect b="642" l="0" r="0" t="642"/>
          <a:stretch/>
        </p:blipFill>
        <p:spPr>
          <a:xfrm>
            <a:off x="226645" y="6407479"/>
            <a:ext cx="215778" cy="22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6" title="Comp_6.gif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10171801" y="4840775"/>
            <a:ext cx="1407521" cy="140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16" title="Comp_7.gif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3900" y="1186973"/>
            <a:ext cx="3205426" cy="320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6" title="Comp_8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8373158" y="4840775"/>
            <a:ext cx="1407521" cy="140752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6"/>
          <p:cNvSpPr txBox="1"/>
          <p:nvPr/>
        </p:nvSpPr>
        <p:spPr>
          <a:xfrm>
            <a:off x="762000" y="6442322"/>
            <a:ext cx="4269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©2026 Databricks, Inc. — All rights reserved</a:t>
            </a:r>
            <a:endParaRPr b="0" i="0" sz="1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Content A - Basic White 1">
  <p:cSld name="8 Content A - Basic White 1"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41" name="Google Shape;41;p17"/>
          <p:cNvSpPr txBox="1"/>
          <p:nvPr>
            <p:ph idx="1" type="body"/>
          </p:nvPr>
        </p:nvSpPr>
        <p:spPr>
          <a:xfrm>
            <a:off x="761825" y="1988833"/>
            <a:ext cx="106593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556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2" name="Google Shape;42;p17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 Content B - 2 Column">
  <p:cSld name="9 Content B - 2 Colum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761825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sz="20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6916611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sz="20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" name="Google Shape;48;p18"/>
          <p:cNvSpPr txBox="1"/>
          <p:nvPr>
            <p:ph idx="3" type="subTitle"/>
          </p:nvPr>
        </p:nvSpPr>
        <p:spPr>
          <a:xfrm>
            <a:off x="795830" y="1970333"/>
            <a:ext cx="4484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4" type="subTitle"/>
          </p:nvPr>
        </p:nvSpPr>
        <p:spPr>
          <a:xfrm>
            <a:off x="6933707" y="1970333"/>
            <a:ext cx="4485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18"/>
          <p:cNvSpPr txBox="1"/>
          <p:nvPr>
            <p:ph idx="5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Blank">
  <p:cSld name="CUSTOM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Content A - Basic">
  <p:cSld name="7 Content A - Basic"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sz="400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55" name="Google Shape;55;p20"/>
          <p:cNvSpPr txBox="1"/>
          <p:nvPr>
            <p:ph idx="1" type="body"/>
          </p:nvPr>
        </p:nvSpPr>
        <p:spPr>
          <a:xfrm>
            <a:off x="761825" y="1988833"/>
            <a:ext cx="106593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Char char="•"/>
              <a:defRPr i="0" sz="24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556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sz="20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6" name="Google Shape;56;p20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Content B - 2 Column w/ Icon Spot">
  <p:cSld name="10 Content B - 2 Column w/ Icon Spo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761825" y="3986900"/>
            <a:ext cx="4518900" cy="2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6932074" y="3986900"/>
            <a:ext cx="4495200" cy="2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21"/>
          <p:cNvSpPr txBox="1"/>
          <p:nvPr>
            <p:ph idx="3" type="subTitle"/>
          </p:nvPr>
        </p:nvSpPr>
        <p:spPr>
          <a:xfrm>
            <a:off x="795830" y="3126633"/>
            <a:ext cx="4484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21"/>
          <p:cNvSpPr txBox="1"/>
          <p:nvPr>
            <p:ph idx="4" type="subTitle"/>
          </p:nvPr>
        </p:nvSpPr>
        <p:spPr>
          <a:xfrm>
            <a:off x="6949080" y="3126633"/>
            <a:ext cx="44613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21"/>
          <p:cNvSpPr txBox="1"/>
          <p:nvPr>
            <p:ph idx="5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Content C - 3 Column">
  <p:cSld name="11 Content C - 3 Column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761825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" name="Google Shape;69;p22"/>
          <p:cNvSpPr txBox="1"/>
          <p:nvPr>
            <p:ph idx="2" type="body"/>
          </p:nvPr>
        </p:nvSpPr>
        <p:spPr>
          <a:xfrm>
            <a:off x="4482570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0" name="Google Shape;70;p22"/>
          <p:cNvSpPr txBox="1"/>
          <p:nvPr>
            <p:ph idx="3" type="body"/>
          </p:nvPr>
        </p:nvSpPr>
        <p:spPr>
          <a:xfrm>
            <a:off x="8167924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1" name="Google Shape;71;p22"/>
          <p:cNvSpPr txBox="1"/>
          <p:nvPr>
            <p:ph idx="4" type="subTitle"/>
          </p:nvPr>
        </p:nvSpPr>
        <p:spPr>
          <a:xfrm>
            <a:off x="786086" y="1970336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2" name="Google Shape;72;p22"/>
          <p:cNvSpPr txBox="1"/>
          <p:nvPr>
            <p:ph idx="5" type="subTitle"/>
          </p:nvPr>
        </p:nvSpPr>
        <p:spPr>
          <a:xfrm>
            <a:off x="4494767" y="1970336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" name="Google Shape;73;p22"/>
          <p:cNvSpPr txBox="1"/>
          <p:nvPr>
            <p:ph idx="6" type="subTitle"/>
          </p:nvPr>
        </p:nvSpPr>
        <p:spPr>
          <a:xfrm>
            <a:off x="8180121" y="1970336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22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22"/>
          <p:cNvSpPr txBox="1"/>
          <p:nvPr>
            <p:ph idx="7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Content C - 3 Column w/ Icon Spot">
  <p:cSld name="12 Content C - 3 Column w/ Icon Spo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78" name="Google Shape;78;p23"/>
          <p:cNvSpPr txBox="1"/>
          <p:nvPr>
            <p:ph idx="1" type="body"/>
          </p:nvPr>
        </p:nvSpPr>
        <p:spPr>
          <a:xfrm>
            <a:off x="761825" y="3986900"/>
            <a:ext cx="3224100" cy="2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" name="Google Shape;79;p23"/>
          <p:cNvSpPr txBox="1"/>
          <p:nvPr>
            <p:ph idx="2" type="body"/>
          </p:nvPr>
        </p:nvSpPr>
        <p:spPr>
          <a:xfrm>
            <a:off x="4482570" y="3986900"/>
            <a:ext cx="3224100" cy="2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0" name="Google Shape;80;p23"/>
          <p:cNvSpPr txBox="1"/>
          <p:nvPr>
            <p:ph idx="3" type="subTitle"/>
          </p:nvPr>
        </p:nvSpPr>
        <p:spPr>
          <a:xfrm>
            <a:off x="786086" y="3126633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" name="Google Shape;81;p23"/>
          <p:cNvSpPr txBox="1"/>
          <p:nvPr>
            <p:ph idx="4" type="subTitle"/>
          </p:nvPr>
        </p:nvSpPr>
        <p:spPr>
          <a:xfrm>
            <a:off x="4494767" y="3126633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" name="Google Shape;82;p23"/>
          <p:cNvSpPr txBox="1"/>
          <p:nvPr>
            <p:ph idx="5" type="body"/>
          </p:nvPr>
        </p:nvSpPr>
        <p:spPr>
          <a:xfrm>
            <a:off x="8167924" y="3986900"/>
            <a:ext cx="3224100" cy="2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3" name="Google Shape;83;p23"/>
          <p:cNvSpPr txBox="1"/>
          <p:nvPr>
            <p:ph idx="6" type="subTitle"/>
          </p:nvPr>
        </p:nvSpPr>
        <p:spPr>
          <a:xfrm>
            <a:off x="8180121" y="3126636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3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23"/>
          <p:cNvSpPr txBox="1"/>
          <p:nvPr>
            <p:ph idx="7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Content C - 3 Column Cards">
  <p:cSld name="13 Content C - 3 Column Card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/>
          <p:nvPr/>
        </p:nvSpPr>
        <p:spPr>
          <a:xfrm>
            <a:off x="7980167" y="1825633"/>
            <a:ext cx="35994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0063" rotWithShape="0" algn="bl" dir="5400000" dist="28575">
              <a:schemeClr val="dk1">
                <a:alpha val="10196"/>
              </a:scheme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4"/>
          <p:cNvSpPr/>
          <p:nvPr/>
        </p:nvSpPr>
        <p:spPr>
          <a:xfrm>
            <a:off x="4294747" y="1825633"/>
            <a:ext cx="35994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0063" rotWithShape="0" algn="bl" dir="5400000" dist="28575">
              <a:schemeClr val="dk1">
                <a:alpha val="10196"/>
              </a:scheme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4"/>
          <p:cNvSpPr/>
          <p:nvPr/>
        </p:nvSpPr>
        <p:spPr>
          <a:xfrm>
            <a:off x="609459" y="1825633"/>
            <a:ext cx="35994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0063" rotWithShape="0" algn="bl" dir="5400000" dist="28575">
              <a:schemeClr val="dk1">
                <a:alpha val="10196"/>
              </a:scheme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4"/>
          <p:cNvSpPr/>
          <p:nvPr/>
        </p:nvSpPr>
        <p:spPr>
          <a:xfrm>
            <a:off x="609614" y="1825433"/>
            <a:ext cx="3599100" cy="4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" name="Google Shape;91;p24"/>
          <p:cNvSpPr/>
          <p:nvPr/>
        </p:nvSpPr>
        <p:spPr>
          <a:xfrm>
            <a:off x="4295792" y="1825433"/>
            <a:ext cx="3599100" cy="4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2" name="Google Shape;92;p24"/>
          <p:cNvSpPr/>
          <p:nvPr/>
        </p:nvSpPr>
        <p:spPr>
          <a:xfrm>
            <a:off x="7980470" y="1825433"/>
            <a:ext cx="3599100" cy="4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" name="Google Shape;93;p24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94" name="Google Shape;94;p24"/>
          <p:cNvSpPr txBox="1"/>
          <p:nvPr>
            <p:ph idx="1" type="body"/>
          </p:nvPr>
        </p:nvSpPr>
        <p:spPr>
          <a:xfrm>
            <a:off x="761825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5" name="Google Shape;95;p24"/>
          <p:cNvSpPr txBox="1"/>
          <p:nvPr>
            <p:ph idx="2" type="body"/>
          </p:nvPr>
        </p:nvSpPr>
        <p:spPr>
          <a:xfrm>
            <a:off x="4482570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" name="Google Shape;96;p24"/>
          <p:cNvSpPr txBox="1"/>
          <p:nvPr>
            <p:ph idx="3" type="body"/>
          </p:nvPr>
        </p:nvSpPr>
        <p:spPr>
          <a:xfrm>
            <a:off x="8167924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DM Sans"/>
              <a:buChar char="•"/>
              <a:defRPr i="0" sz="12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7" name="Google Shape;97;p24"/>
          <p:cNvSpPr txBox="1"/>
          <p:nvPr>
            <p:ph idx="4" type="subTitle"/>
          </p:nvPr>
        </p:nvSpPr>
        <p:spPr>
          <a:xfrm>
            <a:off x="786086" y="1970336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" name="Google Shape;98;p24"/>
          <p:cNvSpPr txBox="1"/>
          <p:nvPr>
            <p:ph idx="5" type="subTitle"/>
          </p:nvPr>
        </p:nvSpPr>
        <p:spPr>
          <a:xfrm>
            <a:off x="4494767" y="1970336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4"/>
          <p:cNvSpPr txBox="1"/>
          <p:nvPr>
            <p:ph idx="6" type="subTitle"/>
          </p:nvPr>
        </p:nvSpPr>
        <p:spPr>
          <a:xfrm>
            <a:off x="8180121" y="1970336"/>
            <a:ext cx="31995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4"/>
          <p:cNvSpPr txBox="1"/>
          <p:nvPr>
            <p:ph idx="7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Content D - Card Right">
  <p:cSld name="14 Content D - Card Righ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04" name="Google Shape;104;p25"/>
          <p:cNvSpPr/>
          <p:nvPr/>
        </p:nvSpPr>
        <p:spPr>
          <a:xfrm>
            <a:off x="6024350" y="1825633"/>
            <a:ext cx="55551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42938" rotWithShape="0" algn="bl" dir="5400000" dist="28575">
              <a:schemeClr val="dk1">
                <a:alpha val="12941"/>
              </a:schemeClr>
            </a:outerShdw>
          </a:effectLst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761825" y="1988833"/>
            <a:ext cx="43548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sz="20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6" name="Google Shape;106;p25"/>
          <p:cNvSpPr txBox="1"/>
          <p:nvPr>
            <p:ph idx="2" type="body"/>
          </p:nvPr>
        </p:nvSpPr>
        <p:spPr>
          <a:xfrm>
            <a:off x="6164850" y="1988833"/>
            <a:ext cx="52440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sz="20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5"/>
          <p:cNvSpPr txBox="1"/>
          <p:nvPr>
            <p:ph idx="3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Content D - Card Left">
  <p:cSld name="15 Content D - Card Lef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11" name="Google Shape;111;p26"/>
          <p:cNvSpPr/>
          <p:nvPr/>
        </p:nvSpPr>
        <p:spPr>
          <a:xfrm>
            <a:off x="609459" y="1825633"/>
            <a:ext cx="55551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42938" rotWithShape="0" algn="bl" dir="5400000" dist="28575">
              <a:schemeClr val="dk1">
                <a:alpha val="12941"/>
              </a:schemeClr>
            </a:outerShdw>
          </a:effectLst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2" name="Google Shape;112;p26"/>
          <p:cNvSpPr txBox="1"/>
          <p:nvPr>
            <p:ph idx="1" type="body"/>
          </p:nvPr>
        </p:nvSpPr>
        <p:spPr>
          <a:xfrm>
            <a:off x="7072576" y="1988833"/>
            <a:ext cx="43548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sz="20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3" name="Google Shape;113;p26"/>
          <p:cNvSpPr txBox="1"/>
          <p:nvPr>
            <p:ph idx="2" type="body"/>
          </p:nvPr>
        </p:nvSpPr>
        <p:spPr>
          <a:xfrm>
            <a:off x="759210" y="1988833"/>
            <a:ext cx="52440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sz="20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4" name="Google Shape;114;p26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6"/>
          <p:cNvSpPr txBox="1"/>
          <p:nvPr>
            <p:ph idx="3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Content D - Card Large">
  <p:cSld name="16 Content D - Card Large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/>
          <p:nvPr/>
        </p:nvSpPr>
        <p:spPr>
          <a:xfrm>
            <a:off x="609459" y="1825633"/>
            <a:ext cx="109698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42938" rotWithShape="0" algn="bl" dir="5400000" dist="28575">
              <a:schemeClr val="dk1">
                <a:alpha val="12941"/>
              </a:schemeClr>
            </a:outerShdw>
          </a:effectLst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27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19" name="Google Shape;119;p27"/>
          <p:cNvSpPr txBox="1"/>
          <p:nvPr>
            <p:ph idx="1" type="body"/>
          </p:nvPr>
        </p:nvSpPr>
        <p:spPr>
          <a:xfrm>
            <a:off x="761825" y="1988833"/>
            <a:ext cx="106593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Char char="•"/>
              <a:defRPr i="0" sz="2000" u="none" cap="none" strike="noStrike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DM Sans"/>
              <a:buChar char="•"/>
              <a:defRPr i="0" sz="1600" u="none" cap="none" strike="noStrike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0" name="Google Shape;120;p27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7"/>
          <p:cNvSpPr txBox="1"/>
          <p:nvPr>
            <p:ph idx="2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  <a:defRPr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itle Slide B - Light 3">
  <p:cSld name="3 Title Slide B - Light 2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8" title="Oat-Slide-Animation-Resized.gif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69475" y="0"/>
            <a:ext cx="457197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8"/>
          <p:cNvSpPr txBox="1"/>
          <p:nvPr>
            <p:ph type="ctrTitle"/>
          </p:nvPr>
        </p:nvSpPr>
        <p:spPr>
          <a:xfrm>
            <a:off x="761815" y="1186975"/>
            <a:ext cx="6171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5" name="Google Shape;125;p28"/>
          <p:cNvSpPr txBox="1"/>
          <p:nvPr>
            <p:ph idx="1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26" name="Google Shape;12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28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8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itle Slide B - Light 4">
  <p:cSld name="3 Title Slide B - Light 2_1_1">
    <p:bg>
      <p:bgPr>
        <a:solidFill>
          <a:srgbClr val="1B313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ctrTitle"/>
          </p:nvPr>
        </p:nvSpPr>
        <p:spPr>
          <a:xfrm>
            <a:off x="761815" y="1186975"/>
            <a:ext cx="6171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9"/>
          <p:cNvSpPr txBox="1"/>
          <p:nvPr>
            <p:ph idx="1" type="subTitle"/>
          </p:nvPr>
        </p:nvSpPr>
        <p:spPr>
          <a:xfrm>
            <a:off x="761813" y="3835400"/>
            <a:ext cx="48507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2" name="Google Shape;132;p29"/>
          <p:cNvPicPr preferRelativeResize="0"/>
          <p:nvPr/>
        </p:nvPicPr>
        <p:blipFill rotWithShape="1">
          <a:blip r:embed="rId2">
            <a:alphaModFix/>
          </a:blip>
          <a:srcRect b="29471" l="0" r="0" t="29471"/>
          <a:stretch/>
        </p:blipFill>
        <p:spPr>
          <a:xfrm>
            <a:off x="761824" y="609599"/>
            <a:ext cx="2557620" cy="4054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29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29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135" name="Google Shape;1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0879" y="4671269"/>
            <a:ext cx="1736061" cy="157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0879" y="2876907"/>
            <a:ext cx="1736061" cy="157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5344" y="4671290"/>
            <a:ext cx="1736051" cy="157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Industry: M&amp;E">
  <p:cSld name="3 Title Slide B - Light 1 1 1 2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12185897" cy="685456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0"/>
          <p:cNvSpPr txBox="1"/>
          <p:nvPr>
            <p:ph type="ctrTitle"/>
          </p:nvPr>
        </p:nvSpPr>
        <p:spPr>
          <a:xfrm>
            <a:off x="761815" y="1186975"/>
            <a:ext cx="6170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42" name="Google Shape;14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30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30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Industry: Retail">
  <p:cSld name="3 Title Slide B - Light 1 1 1 2 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065" y="0"/>
            <a:ext cx="12188964" cy="685628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1"/>
          <p:cNvSpPr txBox="1"/>
          <p:nvPr>
            <p:ph type="ctrTitle"/>
          </p:nvPr>
        </p:nvSpPr>
        <p:spPr>
          <a:xfrm>
            <a:off x="761815" y="1186975"/>
            <a:ext cx="6170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8" name="Google Shape;148;p31"/>
          <p:cNvSpPr txBox="1"/>
          <p:nvPr>
            <p:ph idx="1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49" name="Google Shape;14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31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31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2" name="Google Shape;152;p31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31"/>
          <p:cNvSpPr txBox="1"/>
          <p:nvPr>
            <p:ph idx="3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Industry: Healthcare">
  <p:cSld name="3 Title Slide B - Light 1 1 1 2 1 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12185897" cy="685456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2"/>
          <p:cNvSpPr txBox="1"/>
          <p:nvPr>
            <p:ph type="ctrTitle"/>
          </p:nvPr>
        </p:nvSpPr>
        <p:spPr>
          <a:xfrm>
            <a:off x="761815" y="1186975"/>
            <a:ext cx="6170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7" name="Google Shape;157;p32"/>
          <p:cNvSpPr txBox="1"/>
          <p:nvPr>
            <p:ph idx="1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58" name="Google Shape;1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32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32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Industry: Manufacturing">
  <p:cSld name="3 Title Slide B - Light 1 1 1 2 1 1 2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12185897" cy="685456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3"/>
          <p:cNvSpPr txBox="1"/>
          <p:nvPr>
            <p:ph type="ctrTitle"/>
          </p:nvPr>
        </p:nvSpPr>
        <p:spPr>
          <a:xfrm>
            <a:off x="761815" y="1186975"/>
            <a:ext cx="6170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4" name="Google Shape;164;p33"/>
          <p:cNvSpPr txBox="1"/>
          <p:nvPr>
            <p:ph idx="1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33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33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Industry: Retail 1">
  <p:cSld name="3 Title Slide B - Light 1 1 1 2 1 1 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065" y="0"/>
            <a:ext cx="12188964" cy="685628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4"/>
          <p:cNvSpPr txBox="1"/>
          <p:nvPr>
            <p:ph type="ctrTitle"/>
          </p:nvPr>
        </p:nvSpPr>
        <p:spPr>
          <a:xfrm>
            <a:off x="761815" y="1186975"/>
            <a:ext cx="6170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1" name="Google Shape;171;p34"/>
          <p:cNvSpPr txBox="1"/>
          <p:nvPr>
            <p:ph idx="1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72" name="Google Shape;17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p34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34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5" name="Google Shape;175;p34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Industry: Financial Services">
  <p:cSld name="3 Title Slide B - Light 1 1 1 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12185779" cy="685447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5"/>
          <p:cNvSpPr txBox="1"/>
          <p:nvPr>
            <p:ph type="ctrTitle"/>
          </p:nvPr>
        </p:nvSpPr>
        <p:spPr>
          <a:xfrm>
            <a:off x="761815" y="1186975"/>
            <a:ext cx="6170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9" name="Google Shape;179;p35"/>
          <p:cNvSpPr txBox="1"/>
          <p:nvPr>
            <p:ph idx="1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80" name="Google Shape;18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35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35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3" name="Google Shape;183;p35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Industry: Public">
  <p:cSld name="3 Title Slide B - Light 1 1 1 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3435"/>
            <a:ext cx="12188952" cy="685971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6"/>
          <p:cNvSpPr txBox="1"/>
          <p:nvPr>
            <p:ph type="ctrTitle"/>
          </p:nvPr>
        </p:nvSpPr>
        <p:spPr>
          <a:xfrm>
            <a:off x="761815" y="1186975"/>
            <a:ext cx="6171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7" name="Google Shape;187;p36"/>
          <p:cNvSpPr txBox="1"/>
          <p:nvPr>
            <p:ph idx="1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88" name="Google Shape;18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36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36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Industry: Retail 3">
  <p:cSld name="3 Title Slide B - Light 1 1 1 2 1 1 1 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12185897" cy="685456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7"/>
          <p:cNvSpPr txBox="1"/>
          <p:nvPr>
            <p:ph type="ctrTitle"/>
          </p:nvPr>
        </p:nvSpPr>
        <p:spPr>
          <a:xfrm>
            <a:off x="761815" y="1186975"/>
            <a:ext cx="6170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4" name="Google Shape;194;p37"/>
          <p:cNvSpPr txBox="1"/>
          <p:nvPr>
            <p:ph idx="1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95" name="Google Shape;19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37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37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Industry: Consumer Goods">
  <p:cSld name="7 Content A - Basic 1 1"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8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0" name="Google Shape;200;p38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1" name="Google Shape;201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4488" y="906661"/>
            <a:ext cx="6093000" cy="59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2042" y="225587"/>
            <a:ext cx="5665558" cy="669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8"/>
          <p:cNvSpPr txBox="1"/>
          <p:nvPr>
            <p:ph type="ctrTitle"/>
          </p:nvPr>
        </p:nvSpPr>
        <p:spPr>
          <a:xfrm>
            <a:off x="761815" y="1186975"/>
            <a:ext cx="6171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4" name="Google Shape;204;p38"/>
          <p:cNvSpPr txBox="1"/>
          <p:nvPr>
            <p:ph idx="1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5" name="Google Shape;205;p38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206" name="Google Shape;20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Industry: Retail 3">
  <p:cSld name="7 Content A - Basic 1 1_2"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9" name="Google Shape;209;p39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0" name="Google Shape;210;p39"/>
          <p:cNvPicPr preferRelativeResize="0"/>
          <p:nvPr/>
        </p:nvPicPr>
        <p:blipFill rotWithShape="1">
          <a:blip r:embed="rId2">
            <a:alphaModFix/>
          </a:blip>
          <a:srcRect b="3531" l="0" r="0" t="0"/>
          <a:stretch/>
        </p:blipFill>
        <p:spPr>
          <a:xfrm>
            <a:off x="6094475" y="1118325"/>
            <a:ext cx="6092975" cy="573967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9"/>
          <p:cNvSpPr txBox="1"/>
          <p:nvPr>
            <p:ph idx="1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212" name="Google Shape;21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9"/>
          <p:cNvSpPr txBox="1"/>
          <p:nvPr>
            <p:ph idx="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39"/>
          <p:cNvSpPr txBox="1"/>
          <p:nvPr>
            <p:ph type="ctrTitle"/>
          </p:nvPr>
        </p:nvSpPr>
        <p:spPr>
          <a:xfrm>
            <a:off x="761815" y="1186975"/>
            <a:ext cx="6171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5" name="Google Shape;215;p39"/>
          <p:cNvSpPr txBox="1"/>
          <p:nvPr>
            <p:ph idx="3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16" name="Google Shape;216;p39" title="sf-employee-photography-5633-Blue copy.png"/>
          <p:cNvPicPr preferRelativeResize="0"/>
          <p:nvPr/>
        </p:nvPicPr>
        <p:blipFill rotWithShape="1">
          <a:blip r:embed="rId4">
            <a:alphaModFix/>
          </a:blip>
          <a:srcRect b="0" l="0" r="15690" t="0"/>
          <a:stretch/>
        </p:blipFill>
        <p:spPr>
          <a:xfrm>
            <a:off x="4373600" y="689943"/>
            <a:ext cx="7813852" cy="6168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Industry: Financial Services 2">
  <p:cSld name="7 Content A - Basic 1 1_1"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40" title="SF-Title-Slide-3.png"/>
          <p:cNvPicPr preferRelativeResize="0"/>
          <p:nvPr/>
        </p:nvPicPr>
        <p:blipFill rotWithShape="1">
          <a:blip r:embed="rId2">
            <a:alphaModFix/>
          </a:blip>
          <a:srcRect b="38077" l="0" r="14170" t="0"/>
          <a:stretch/>
        </p:blipFill>
        <p:spPr>
          <a:xfrm>
            <a:off x="5037337" y="1466850"/>
            <a:ext cx="7151624" cy="5391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40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40"/>
          <p:cNvSpPr txBox="1"/>
          <p:nvPr>
            <p:ph type="ctrTitle"/>
          </p:nvPr>
        </p:nvSpPr>
        <p:spPr>
          <a:xfrm>
            <a:off x="761815" y="1186975"/>
            <a:ext cx="6171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1" name="Google Shape;221;p40"/>
          <p:cNvSpPr txBox="1"/>
          <p:nvPr>
            <p:ph idx="1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2" name="Google Shape;222;p40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223" name="Google Shape;2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itle Slide B - Light 1">
  <p:cSld name="1_3 Title Slide B - Light 2 1 1 2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/>
          <p:nvPr>
            <p:ph type="ctrTitle"/>
          </p:nvPr>
        </p:nvSpPr>
        <p:spPr>
          <a:xfrm>
            <a:off x="761815" y="1186975"/>
            <a:ext cx="6170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6" name="Google Shape;226;p41"/>
          <p:cNvSpPr txBox="1"/>
          <p:nvPr>
            <p:ph idx="1" type="subTitle"/>
          </p:nvPr>
        </p:nvSpPr>
        <p:spPr>
          <a:xfrm>
            <a:off x="761817" y="3835400"/>
            <a:ext cx="52623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27" name="Google Shape;227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8" name="Google Shape;228;p41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41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pic>
        <p:nvPicPr>
          <p:cNvPr id="230" name="Google Shape;23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0879" y="4671269"/>
            <a:ext cx="1736061" cy="157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0879" y="2876907"/>
            <a:ext cx="1736061" cy="157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5344" y="4671290"/>
            <a:ext cx="1736051" cy="157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itle Slide B - Light">
  <p:cSld name="3 Title Slide B - Ligh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/>
          <p:nvPr>
            <p:ph type="ctrTitle"/>
          </p:nvPr>
        </p:nvSpPr>
        <p:spPr>
          <a:xfrm>
            <a:off x="761815" y="1186975"/>
            <a:ext cx="6170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5" name="Google Shape;235;p42"/>
          <p:cNvSpPr txBox="1"/>
          <p:nvPr>
            <p:ph idx="1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36" name="Google Shape;236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1824" y="609599"/>
            <a:ext cx="2557621" cy="40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7" name="Google Shape;237;p42"/>
          <p:cNvCxnSpPr/>
          <p:nvPr/>
        </p:nvCxnSpPr>
        <p:spPr>
          <a:xfrm>
            <a:off x="761825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42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9" name="Google Shape;239;p42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Power Statement 1">
  <p:cSld name="Content E - Power Statement 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/>
          <p:nvPr>
            <p:ph type="title"/>
          </p:nvPr>
        </p:nvSpPr>
        <p:spPr>
          <a:xfrm>
            <a:off x="762008" y="609600"/>
            <a:ext cx="10660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DM Sans Medium"/>
              <a:buNone/>
              <a:defRPr i="0" sz="4800" u="none" cap="none" strike="noStrike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42" name="Google Shape;242;p43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Section Break 1">
  <p:cSld name="Content E - Power Statement 2">
    <p:bg>
      <p:bgPr>
        <a:solidFill>
          <a:srgbClr val="1B3139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954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4"/>
          <p:cNvSpPr txBox="1"/>
          <p:nvPr>
            <p:ph type="title"/>
          </p:nvPr>
        </p:nvSpPr>
        <p:spPr>
          <a:xfrm>
            <a:off x="762009" y="2069633"/>
            <a:ext cx="9018600" cy="4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DM Sans Medium"/>
              <a:buNone/>
              <a:defRPr i="0" sz="8000" u="none" cap="none" strike="noStrik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246" name="Google Shape;246;p44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44"/>
          <p:cNvSpPr txBox="1"/>
          <p:nvPr>
            <p:ph idx="1" type="subTitle"/>
          </p:nvPr>
        </p:nvSpPr>
        <p:spPr>
          <a:xfrm>
            <a:off x="762009" y="1483633"/>
            <a:ext cx="9018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DM Sans"/>
              <a:buNone/>
              <a:defRPr sz="1600">
                <a:solidFill>
                  <a:schemeClr val="dk2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Section Break 2">
  <p:cSld name="Content E - Power Statement 2_2">
    <p:bg>
      <p:bgPr>
        <a:solidFill>
          <a:srgbClr val="1B3139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954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5"/>
          <p:cNvSpPr txBox="1"/>
          <p:nvPr>
            <p:ph type="title"/>
          </p:nvPr>
        </p:nvSpPr>
        <p:spPr>
          <a:xfrm>
            <a:off x="762009" y="2069633"/>
            <a:ext cx="9018600" cy="4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DM Sans Medium"/>
              <a:buNone/>
              <a:defRPr i="0" sz="8000" u="none" cap="none" strike="noStrik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251" name="Google Shape;251;p45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45"/>
          <p:cNvSpPr txBox="1"/>
          <p:nvPr>
            <p:ph idx="1" type="subTitle"/>
          </p:nvPr>
        </p:nvSpPr>
        <p:spPr>
          <a:xfrm>
            <a:off x="762009" y="1483633"/>
            <a:ext cx="9018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dk2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Section Break 3">
  <p:cSld name="Content E - Power Statement 2_2_1">
    <p:bg>
      <p:bgPr>
        <a:solidFill>
          <a:srgbClr val="1B3139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954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6"/>
          <p:cNvSpPr txBox="1"/>
          <p:nvPr>
            <p:ph type="title"/>
          </p:nvPr>
        </p:nvSpPr>
        <p:spPr>
          <a:xfrm>
            <a:off x="762009" y="2417700"/>
            <a:ext cx="9018600" cy="3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DM Sans Medium"/>
              <a:buNone/>
              <a:defRPr i="0" sz="8000" u="none" cap="none" strike="noStrik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256" name="Google Shape;256;p46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46"/>
          <p:cNvSpPr txBox="1"/>
          <p:nvPr>
            <p:ph idx="1" type="subTitle"/>
          </p:nvPr>
        </p:nvSpPr>
        <p:spPr>
          <a:xfrm>
            <a:off x="762009" y="1831700"/>
            <a:ext cx="9018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dk2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Section Break 4">
  <p:cSld name="Content E - Power Statement 2_3">
    <p:bg>
      <p:bgPr>
        <a:solidFill>
          <a:srgbClr val="1B3139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954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7"/>
          <p:cNvSpPr txBox="1"/>
          <p:nvPr>
            <p:ph type="title"/>
          </p:nvPr>
        </p:nvSpPr>
        <p:spPr>
          <a:xfrm>
            <a:off x="762009" y="2069633"/>
            <a:ext cx="9018600" cy="4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DM Sans Medium"/>
              <a:buNone/>
              <a:defRPr i="0" sz="8000" u="none" cap="none" strike="noStrik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261" name="Google Shape;261;p47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47"/>
          <p:cNvSpPr txBox="1"/>
          <p:nvPr>
            <p:ph idx="1" type="subTitle"/>
          </p:nvPr>
        </p:nvSpPr>
        <p:spPr>
          <a:xfrm>
            <a:off x="762009" y="1483633"/>
            <a:ext cx="9018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dk2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Section Break 5">
  <p:cSld name="Content E - Power Statement 2_2_2">
    <p:bg>
      <p:bgPr>
        <a:solidFill>
          <a:srgbClr val="1B3139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954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8"/>
          <p:cNvSpPr txBox="1"/>
          <p:nvPr>
            <p:ph type="title"/>
          </p:nvPr>
        </p:nvSpPr>
        <p:spPr>
          <a:xfrm>
            <a:off x="762009" y="2069633"/>
            <a:ext cx="9018600" cy="4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DM Sans Medium"/>
              <a:buNone/>
              <a:defRPr i="0" sz="8000" u="none" cap="none" strike="noStrik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266" name="Google Shape;266;p48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48"/>
          <p:cNvSpPr txBox="1"/>
          <p:nvPr>
            <p:ph idx="1" type="subTitle"/>
          </p:nvPr>
        </p:nvSpPr>
        <p:spPr>
          <a:xfrm>
            <a:off x="762009" y="1483633"/>
            <a:ext cx="9018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dk2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Section Break 6">
  <p:cSld name="Content E - Power Statement 2_2_2_1">
    <p:bg>
      <p:bgPr>
        <a:solidFill>
          <a:schemeClr val="dk2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954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9"/>
          <p:cNvSpPr txBox="1"/>
          <p:nvPr>
            <p:ph type="title"/>
          </p:nvPr>
        </p:nvSpPr>
        <p:spPr>
          <a:xfrm>
            <a:off x="762009" y="2069633"/>
            <a:ext cx="9018600" cy="4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DM Sans Medium"/>
              <a:buNone/>
              <a:defRPr i="0" sz="8000" u="none" cap="none" strike="noStrik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271" name="Google Shape;271;p49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49"/>
          <p:cNvSpPr txBox="1"/>
          <p:nvPr>
            <p:ph idx="1" type="subTitle"/>
          </p:nvPr>
        </p:nvSpPr>
        <p:spPr>
          <a:xfrm>
            <a:off x="762009" y="1483633"/>
            <a:ext cx="9018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49"/>
          <p:cNvSpPr/>
          <p:nvPr/>
        </p:nvSpPr>
        <p:spPr>
          <a:xfrm>
            <a:off x="181371" y="6357133"/>
            <a:ext cx="306300" cy="342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74" name="Google Shape;274;p49"/>
          <p:cNvPicPr preferRelativeResize="0"/>
          <p:nvPr/>
        </p:nvPicPr>
        <p:blipFill rotWithShape="1">
          <a:blip r:embed="rId3">
            <a:alphaModFix/>
          </a:blip>
          <a:srcRect b="642" l="0" r="0" t="642"/>
          <a:stretch/>
        </p:blipFill>
        <p:spPr>
          <a:xfrm>
            <a:off x="226645" y="6407479"/>
            <a:ext cx="215778" cy="22361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9"/>
          <p:cNvSpPr/>
          <p:nvPr/>
        </p:nvSpPr>
        <p:spPr>
          <a:xfrm>
            <a:off x="528750" y="6387025"/>
            <a:ext cx="3081900" cy="32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49"/>
          <p:cNvSpPr txBox="1"/>
          <p:nvPr/>
        </p:nvSpPr>
        <p:spPr>
          <a:xfrm>
            <a:off x="762000" y="6442322"/>
            <a:ext cx="4269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©2026 Databricks, Inc. — All rights reserved</a:t>
            </a:r>
            <a:endParaRPr b="0" i="0" sz="1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Section Break 7">
  <p:cSld name="Content E - Power Statement 2_2_2_1_1">
    <p:bg>
      <p:bgPr>
        <a:solidFill>
          <a:schemeClr val="dk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954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50"/>
          <p:cNvSpPr txBox="1"/>
          <p:nvPr>
            <p:ph type="title"/>
          </p:nvPr>
        </p:nvSpPr>
        <p:spPr>
          <a:xfrm>
            <a:off x="762009" y="2069633"/>
            <a:ext cx="9018600" cy="4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DM Sans Medium"/>
              <a:buNone/>
              <a:defRPr i="0" sz="8000" u="none" cap="none" strike="noStrik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280" name="Google Shape;280;p50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50"/>
          <p:cNvSpPr txBox="1"/>
          <p:nvPr>
            <p:ph idx="1" type="subTitle"/>
          </p:nvPr>
        </p:nvSpPr>
        <p:spPr>
          <a:xfrm>
            <a:off x="762009" y="1483633"/>
            <a:ext cx="9018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50"/>
          <p:cNvSpPr/>
          <p:nvPr/>
        </p:nvSpPr>
        <p:spPr>
          <a:xfrm>
            <a:off x="181371" y="6357133"/>
            <a:ext cx="306300" cy="342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83" name="Google Shape;283;p50"/>
          <p:cNvPicPr preferRelativeResize="0"/>
          <p:nvPr/>
        </p:nvPicPr>
        <p:blipFill rotWithShape="1">
          <a:blip r:embed="rId3">
            <a:alphaModFix/>
          </a:blip>
          <a:srcRect b="642" l="0" r="0" t="642"/>
          <a:stretch/>
        </p:blipFill>
        <p:spPr>
          <a:xfrm>
            <a:off x="226645" y="6407479"/>
            <a:ext cx="215778" cy="22361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0"/>
          <p:cNvSpPr/>
          <p:nvPr/>
        </p:nvSpPr>
        <p:spPr>
          <a:xfrm>
            <a:off x="528750" y="6387025"/>
            <a:ext cx="3081900" cy="32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50"/>
          <p:cNvSpPr txBox="1"/>
          <p:nvPr/>
        </p:nvSpPr>
        <p:spPr>
          <a:xfrm>
            <a:off x="762000" y="6442322"/>
            <a:ext cx="4269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©2026 Databricks, Inc. — All rights reserved</a:t>
            </a:r>
            <a:endParaRPr b="0" i="0" sz="1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Section Break 8">
  <p:cSld name="Content E - Power Statement 2_2_1_1">
    <p:bg>
      <p:bgPr>
        <a:solidFill>
          <a:srgbClr val="1B3139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954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51"/>
          <p:cNvSpPr txBox="1"/>
          <p:nvPr>
            <p:ph type="title"/>
          </p:nvPr>
        </p:nvSpPr>
        <p:spPr>
          <a:xfrm>
            <a:off x="762009" y="2069633"/>
            <a:ext cx="9018600" cy="4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DM Sans Medium"/>
              <a:buNone/>
              <a:defRPr i="0" sz="8000" u="none" cap="none" strike="noStrik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289" name="Google Shape;289;p51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51"/>
          <p:cNvSpPr txBox="1"/>
          <p:nvPr>
            <p:ph idx="1" type="subTitle"/>
          </p:nvPr>
        </p:nvSpPr>
        <p:spPr>
          <a:xfrm>
            <a:off x="762009" y="1483633"/>
            <a:ext cx="9018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dk2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Power Statement 1">
  <p:cSld name="Content E - Power Statement 2_1">
    <p:bg>
      <p:bgPr>
        <a:solidFill>
          <a:srgbClr val="1B3139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2"/>
          <p:cNvSpPr txBox="1"/>
          <p:nvPr>
            <p:ph type="title"/>
          </p:nvPr>
        </p:nvSpPr>
        <p:spPr>
          <a:xfrm>
            <a:off x="762008" y="609600"/>
            <a:ext cx="10660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DM Sans Medium"/>
              <a:buNone/>
              <a:defRPr i="0" sz="4800" u="none" cap="none" strike="noStrik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93" name="Google Shape;293;p52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Power Statement 2">
  <p:cSld name="Content E - Power Statement 4 1 1">
    <p:bg>
      <p:bgPr>
        <a:solidFill>
          <a:schemeClr val="dk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 txBox="1"/>
          <p:nvPr>
            <p:ph type="title"/>
          </p:nvPr>
        </p:nvSpPr>
        <p:spPr>
          <a:xfrm>
            <a:off x="762008" y="609600"/>
            <a:ext cx="10660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DM Sans Medium"/>
              <a:buNone/>
              <a:defRPr i="0" sz="4800" u="none" cap="none" strike="noStrik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53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53"/>
          <p:cNvSpPr/>
          <p:nvPr/>
        </p:nvSpPr>
        <p:spPr>
          <a:xfrm>
            <a:off x="181371" y="6357133"/>
            <a:ext cx="306300" cy="342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98" name="Google Shape;298;p53"/>
          <p:cNvPicPr preferRelativeResize="0"/>
          <p:nvPr/>
        </p:nvPicPr>
        <p:blipFill rotWithShape="1">
          <a:blip r:embed="rId2">
            <a:alphaModFix/>
          </a:blip>
          <a:srcRect b="642" l="0" r="0" t="642"/>
          <a:stretch/>
        </p:blipFill>
        <p:spPr>
          <a:xfrm>
            <a:off x="226645" y="6407479"/>
            <a:ext cx="215778" cy="22361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53"/>
          <p:cNvSpPr/>
          <p:nvPr/>
        </p:nvSpPr>
        <p:spPr>
          <a:xfrm>
            <a:off x="528750" y="6387025"/>
            <a:ext cx="3081900" cy="32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0" name="Google Shape;300;p53"/>
          <p:cNvSpPr txBox="1"/>
          <p:nvPr/>
        </p:nvSpPr>
        <p:spPr>
          <a:xfrm>
            <a:off x="762000" y="6442322"/>
            <a:ext cx="4269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©2026 Databricks, Inc. — All rights reserved</a:t>
            </a:r>
            <a:endParaRPr b="0" i="0" sz="1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 - Closing Light">
  <p:cSld name="Z - Closing Light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21273" y="2819733"/>
            <a:ext cx="6145024" cy="974022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4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54"/>
          <p:cNvSpPr/>
          <p:nvPr/>
        </p:nvSpPr>
        <p:spPr>
          <a:xfrm>
            <a:off x="162907" y="6323492"/>
            <a:ext cx="391500" cy="39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"/>
              <a:buNone/>
              <a:defRPr b="1" i="0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761825" y="1825633"/>
            <a:ext cx="10589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DM Sans"/>
              <a:buChar char="•"/>
              <a:defRPr b="0" i="0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DM Sans"/>
              <a:buChar char="•"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pic>
        <p:nvPicPr>
          <p:cNvPr id="8" name="Google Shape;8;p15"/>
          <p:cNvPicPr preferRelativeResize="0"/>
          <p:nvPr/>
        </p:nvPicPr>
        <p:blipFill rotWithShape="1">
          <a:blip r:embed="rId1">
            <a:alphaModFix/>
          </a:blip>
          <a:srcRect b="642" l="0" r="0" t="642"/>
          <a:stretch/>
        </p:blipFill>
        <p:spPr>
          <a:xfrm>
            <a:off x="227543" y="6407467"/>
            <a:ext cx="215778" cy="22361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5"/>
          <p:cNvSpPr txBox="1"/>
          <p:nvPr>
            <p:ph idx="12" type="sldNum"/>
          </p:nvPr>
        </p:nvSpPr>
        <p:spPr>
          <a:xfrm>
            <a:off x="11636995" y="6426100"/>
            <a:ext cx="324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" name="Google Shape;10;p15"/>
          <p:cNvGrpSpPr/>
          <p:nvPr/>
        </p:nvGrpSpPr>
        <p:grpSpPr>
          <a:xfrm>
            <a:off x="12402842" y="-43986"/>
            <a:ext cx="1440600" cy="5240746"/>
            <a:chOff x="12402842" y="-43986"/>
            <a:chExt cx="1440600" cy="5240746"/>
          </a:xfrm>
        </p:grpSpPr>
        <p:sp>
          <p:nvSpPr>
            <p:cNvPr id="11" name="Google Shape;11;p15"/>
            <p:cNvSpPr/>
            <p:nvPr/>
          </p:nvSpPr>
          <p:spPr>
            <a:xfrm>
              <a:off x="12402842" y="263791"/>
              <a:ext cx="577800" cy="577800"/>
            </a:xfrm>
            <a:prstGeom prst="rect">
              <a:avLst/>
            </a:prstGeom>
            <a:solidFill>
              <a:srgbClr val="FF3621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Lava 600 - Primary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#FF3621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(255 ,54, 33)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C0, M91, Y93, K0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2" name="Google Shape;12;p15"/>
            <p:cNvSpPr/>
            <p:nvPr/>
          </p:nvSpPr>
          <p:spPr>
            <a:xfrm>
              <a:off x="12402842" y="875818"/>
              <a:ext cx="577800" cy="577800"/>
            </a:xfrm>
            <a:prstGeom prst="rect">
              <a:avLst/>
            </a:prstGeom>
            <a:solidFill>
              <a:srgbClr val="1B3139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Navy 800 - Primary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#1B3139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(27, 49, 57)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C86, M65, Y57, K56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3" name="Google Shape;13;p15"/>
            <p:cNvSpPr/>
            <p:nvPr/>
          </p:nvSpPr>
          <p:spPr>
            <a:xfrm>
              <a:off x="12402842" y="2777735"/>
              <a:ext cx="577800" cy="577800"/>
            </a:xfrm>
            <a:prstGeom prst="rect">
              <a:avLst/>
            </a:prstGeom>
            <a:solidFill>
              <a:srgbClr val="98102A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Maroon 600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#98102A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(152, 16, 42)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C26, M100, Y84, K24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4" name="Google Shape;14;p15"/>
            <p:cNvSpPr/>
            <p:nvPr/>
          </p:nvSpPr>
          <p:spPr>
            <a:xfrm>
              <a:off x="12402842" y="3391477"/>
              <a:ext cx="577800" cy="577800"/>
            </a:xfrm>
            <a:prstGeom prst="rect">
              <a:avLst/>
            </a:prstGeom>
            <a:solidFill>
              <a:srgbClr val="FFAB00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Yellow 600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#FFAB00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(255, 171, 0)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C0, M38, Y100, K0</a:t>
              </a:r>
              <a:endParaRPr b="0" i="0" sz="400" u="none" cap="none" strike="noStrik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5" name="Google Shape;15;p15"/>
            <p:cNvSpPr/>
            <p:nvPr/>
          </p:nvSpPr>
          <p:spPr>
            <a:xfrm>
              <a:off x="12402842" y="4005218"/>
              <a:ext cx="577800" cy="577800"/>
            </a:xfrm>
            <a:prstGeom prst="rect">
              <a:avLst/>
            </a:prstGeom>
            <a:solidFill>
              <a:srgbClr val="00A972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Green 600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#00A972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(0, 169, 114)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C81, M6, Y74, K0</a:t>
              </a:r>
              <a:endParaRPr b="0" i="0" sz="400" u="none" cap="none" strike="noStrik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6" name="Google Shape;16;p15"/>
            <p:cNvSpPr/>
            <p:nvPr/>
          </p:nvSpPr>
          <p:spPr>
            <a:xfrm>
              <a:off x="12402842" y="4618960"/>
              <a:ext cx="577800" cy="577800"/>
            </a:xfrm>
            <a:prstGeom prst="rect">
              <a:avLst/>
            </a:prstGeom>
            <a:solidFill>
              <a:srgbClr val="2272B4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Blue 600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#2272B4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(34, 114,1 80)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C86, M52, Y4, K0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7" name="Google Shape;17;p15"/>
            <p:cNvSpPr/>
            <p:nvPr/>
          </p:nvSpPr>
          <p:spPr>
            <a:xfrm>
              <a:off x="13021430" y="2777735"/>
              <a:ext cx="577800" cy="577800"/>
            </a:xfrm>
            <a:prstGeom prst="rect">
              <a:avLst/>
            </a:prstGeom>
            <a:solidFill>
              <a:srgbClr val="303F47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Gray - Navigation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#303F47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(48, 63, 71)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C79, M62, Y54, K44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5"/>
            <p:cNvSpPr/>
            <p:nvPr/>
          </p:nvSpPr>
          <p:spPr>
            <a:xfrm>
              <a:off x="13021430" y="3391477"/>
              <a:ext cx="577800" cy="577800"/>
            </a:xfrm>
            <a:prstGeom prst="rect">
              <a:avLst/>
            </a:prstGeom>
            <a:solidFill>
              <a:srgbClr val="5A6F77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Gray – Text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#5A6F77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(90, 111, 119)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C68, M47, Y44, K14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9" name="Google Shape;19;p15"/>
            <p:cNvSpPr/>
            <p:nvPr/>
          </p:nvSpPr>
          <p:spPr>
            <a:xfrm>
              <a:off x="13021430" y="4005218"/>
              <a:ext cx="577800" cy="577800"/>
            </a:xfrm>
            <a:prstGeom prst="rect">
              <a:avLst/>
            </a:prstGeom>
            <a:solidFill>
              <a:srgbClr val="DCE0E2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Gray – Lines</a:t>
              </a:r>
              <a:endParaRPr b="0" i="0" sz="400" u="none" cap="none" strike="noStrik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#DCE0E2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(220, 224, 226)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C12, M7, Y8, K0</a:t>
              </a:r>
              <a:endParaRPr b="0" i="0" sz="400" u="none" cap="none" strike="noStrik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0" name="Google Shape;20;p15"/>
            <p:cNvSpPr txBox="1"/>
            <p:nvPr/>
          </p:nvSpPr>
          <p:spPr>
            <a:xfrm>
              <a:off x="12402842" y="-43986"/>
              <a:ext cx="12177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Primary palette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5"/>
            <p:cNvSpPr txBox="1"/>
            <p:nvPr/>
          </p:nvSpPr>
          <p:spPr>
            <a:xfrm>
              <a:off x="12402842" y="2469957"/>
              <a:ext cx="1440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Secondary palette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5"/>
            <p:cNvSpPr/>
            <p:nvPr/>
          </p:nvSpPr>
          <p:spPr>
            <a:xfrm>
              <a:off x="12402855" y="1487850"/>
              <a:ext cx="577800" cy="577800"/>
            </a:xfrm>
            <a:prstGeom prst="rect">
              <a:avLst/>
            </a:prstGeom>
            <a:solidFill>
              <a:srgbClr val="EEEDE9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Oat Medium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#EEEDE9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(238, 237, 233)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C6, M4, Y6, K0</a:t>
              </a:r>
              <a:endParaRPr b="0" i="0" sz="400" u="none" cap="none" strike="noStrike">
                <a:solidFill>
                  <a:srgbClr val="1B3139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3" name="Google Shape;23;p15"/>
            <p:cNvSpPr/>
            <p:nvPr/>
          </p:nvSpPr>
          <p:spPr>
            <a:xfrm>
              <a:off x="13021430" y="1489567"/>
              <a:ext cx="577800" cy="577800"/>
            </a:xfrm>
            <a:prstGeom prst="rect">
              <a:avLst/>
            </a:prstGeom>
            <a:solidFill>
              <a:srgbClr val="F9F7F4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Oat Light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#F9F7F4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(249, ,247, 244)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C1, M2, Y2, K0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5"/>
            <p:cNvSpPr/>
            <p:nvPr/>
          </p:nvSpPr>
          <p:spPr>
            <a:xfrm>
              <a:off x="13021417" y="263791"/>
              <a:ext cx="577800" cy="577800"/>
            </a:xfrm>
            <a:prstGeom prst="rect">
              <a:avLst/>
            </a:prstGeom>
            <a:solidFill>
              <a:srgbClr val="FF5F46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Lava 500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#FF5F46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(255, 95, 70)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C0, M78, Y79, K0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5" name="Google Shape;25;p15"/>
            <p:cNvSpPr/>
            <p:nvPr/>
          </p:nvSpPr>
          <p:spPr>
            <a:xfrm>
              <a:off x="13021430" y="875818"/>
              <a:ext cx="577800" cy="577800"/>
            </a:xfrm>
            <a:prstGeom prst="rect">
              <a:avLst/>
            </a:prstGeom>
            <a:solidFill>
              <a:srgbClr val="0B2026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Navy 900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#0B2026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RGB (11, 32, 38)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Arial"/>
                <a:buNone/>
              </a:pPr>
              <a:r>
                <a:rPr b="0" i="0" lang="en" sz="400" u="none" cap="none" strike="noStrike">
                  <a:solidFill>
                    <a:srgbClr val="F9F7F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C86, M67, Y61,  K71</a:t>
              </a:r>
              <a:endParaRPr b="0" i="0" sz="400" u="none" cap="none" strike="noStrike">
                <a:solidFill>
                  <a:srgbClr val="F9F7F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26" name="Google Shape;26;p15"/>
          <p:cNvSpPr txBox="1"/>
          <p:nvPr/>
        </p:nvSpPr>
        <p:spPr>
          <a:xfrm>
            <a:off x="762000" y="6442322"/>
            <a:ext cx="4269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rPr>
              <a:t>©2026 Databricks, Inc. — All rights reserved</a:t>
            </a:r>
            <a:endParaRPr b="0" i="0" sz="1000" u="none" cap="none" strike="noStrike">
              <a:solidFill>
                <a:schemeClr val="accent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">
          <p15:clr>
            <a:srgbClr val="EA4335"/>
          </p15:clr>
        </p15:guide>
        <p15:guide id="2" pos="480">
          <p15:clr>
            <a:srgbClr val="EA4335"/>
          </p15:clr>
        </p15:guide>
        <p15:guide id="3" pos="960">
          <p15:clr>
            <a:srgbClr val="EA4335"/>
          </p15:clr>
        </p15:guide>
        <p15:guide id="4" pos="1056">
          <p15:clr>
            <a:srgbClr val="EA4335"/>
          </p15:clr>
        </p15:guide>
        <p15:guide id="5" pos="1518">
          <p15:clr>
            <a:srgbClr val="EA4335"/>
          </p15:clr>
        </p15:guide>
        <p15:guide id="6" pos="1614">
          <p15:clr>
            <a:srgbClr val="EA4335"/>
          </p15:clr>
        </p15:guide>
        <p15:guide id="7" pos="2091">
          <p15:clr>
            <a:srgbClr val="EA4335"/>
          </p15:clr>
        </p15:guide>
        <p15:guide id="8" pos="2185">
          <p15:clr>
            <a:srgbClr val="EA4335"/>
          </p15:clr>
        </p15:guide>
        <p15:guide id="9" pos="2651">
          <p15:clr>
            <a:srgbClr val="EA4335"/>
          </p15:clr>
        </p15:guide>
        <p15:guide id="10" pos="2755">
          <p15:clr>
            <a:srgbClr val="EA4335"/>
          </p15:clr>
        </p15:guide>
        <p15:guide id="11" pos="3223">
          <p15:clr>
            <a:srgbClr val="EA4335"/>
          </p15:clr>
        </p15:guide>
        <p15:guide id="12" pos="3326">
          <p15:clr>
            <a:srgbClr val="EA4335"/>
          </p15:clr>
        </p15:guide>
        <p15:guide id="13" pos="3795">
          <p15:clr>
            <a:srgbClr val="EA4335"/>
          </p15:clr>
        </p15:guide>
        <p15:guide id="14" pos="3883">
          <p15:clr>
            <a:srgbClr val="EA4335"/>
          </p15:clr>
        </p15:guide>
        <p15:guide id="15" pos="4367">
          <p15:clr>
            <a:srgbClr val="EA4335"/>
          </p15:clr>
        </p15:guide>
        <p15:guide id="16" pos="4455">
          <p15:clr>
            <a:srgbClr val="EA4335"/>
          </p15:clr>
        </p15:guide>
        <p15:guide id="17" pos="4923">
          <p15:clr>
            <a:srgbClr val="EA4335"/>
          </p15:clr>
        </p15:guide>
        <p15:guide id="18" pos="5027">
          <p15:clr>
            <a:srgbClr val="EA4335"/>
          </p15:clr>
        </p15:guide>
        <p15:guide id="19" pos="5493">
          <p15:clr>
            <a:srgbClr val="EA4335"/>
          </p15:clr>
        </p15:guide>
        <p15:guide id="20" pos="5587">
          <p15:clr>
            <a:srgbClr val="EA4335"/>
          </p15:clr>
        </p15:guide>
        <p15:guide id="21" pos="6064">
          <p15:clr>
            <a:srgbClr val="EA4335"/>
          </p15:clr>
        </p15:guide>
        <p15:guide id="22" pos="6161">
          <p15:clr>
            <a:srgbClr val="EA4335"/>
          </p15:clr>
        </p15:guide>
        <p15:guide id="23" pos="6622">
          <p15:clr>
            <a:srgbClr val="EA4335"/>
          </p15:clr>
        </p15:guide>
        <p15:guide id="24" pos="6718">
          <p15:clr>
            <a:srgbClr val="EA4335"/>
          </p15:clr>
        </p15:guide>
        <p15:guide id="25" pos="7198">
          <p15:clr>
            <a:srgbClr val="EA4335"/>
          </p15:clr>
        </p15:guide>
        <p15:guide id="26" pos="7294">
          <p15:clr>
            <a:srgbClr val="EA4335"/>
          </p15:clr>
        </p15:guide>
        <p15:guide id="27" orient="horz" pos="3936">
          <p15:clr>
            <a:srgbClr val="EA4335"/>
          </p15:clr>
        </p15:guide>
        <p15:guide id="28" orient="horz" pos="384">
          <p15:clr>
            <a:srgbClr val="EA4335"/>
          </p15:clr>
        </p15:guide>
        <p15:guide id="29" pos="3839">
          <p15:clr>
            <a:srgbClr val="EA4335"/>
          </p15:clr>
        </p15:guide>
        <p15:guide id="30" orient="horz" pos="21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"/>
          <p:cNvSpPr txBox="1"/>
          <p:nvPr>
            <p:ph type="ctrTitle"/>
          </p:nvPr>
        </p:nvSpPr>
        <p:spPr>
          <a:xfrm>
            <a:off x="761827" y="1186975"/>
            <a:ext cx="7505400" cy="235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</a:pPr>
            <a:r>
              <a:rPr lang="en" sz="5200">
                <a:solidFill>
                  <a:schemeClr val="lt1"/>
                </a:solidFill>
              </a:rPr>
              <a:t>Databricks Agent Skills ワークショップ</a:t>
            </a:r>
            <a:endParaRPr sz="5200"/>
          </a:p>
        </p:txBody>
      </p:sp>
      <p:sp>
        <p:nvSpPr>
          <p:cNvPr id="310" name="Google Shape;310;p1"/>
          <p:cNvSpPr txBox="1"/>
          <p:nvPr>
            <p:ph idx="1" type="subTitle"/>
          </p:nvPr>
        </p:nvSpPr>
        <p:spPr>
          <a:xfrm>
            <a:off x="761825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" sz="2800">
                <a:solidFill>
                  <a:schemeClr val="lt1"/>
                </a:solidFill>
              </a:rPr>
              <a:t>セットアップ &amp; デモ — CADDI様向け</a:t>
            </a:r>
            <a:endParaRPr sz="2800"/>
          </a:p>
        </p:txBody>
      </p:sp>
      <p:sp>
        <p:nvSpPr>
          <p:cNvPr id="311" name="Google Shape;311;p1"/>
          <p:cNvSpPr txBox="1"/>
          <p:nvPr>
            <p:ph idx="2" type="subTitle"/>
          </p:nvPr>
        </p:nvSpPr>
        <p:spPr>
          <a:xfrm>
            <a:off x="761825" y="5756000"/>
            <a:ext cx="5262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i="0" lang="en" sz="360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ai_dev_kit → ai_agent_skills：何が変わったか？</a:t>
            </a:r>
            <a:endParaRPr sz="3600"/>
          </a:p>
        </p:txBody>
      </p:sp>
      <p:sp>
        <p:nvSpPr>
          <p:cNvPr id="317" name="Google Shape;317;p2"/>
          <p:cNvSpPr txBox="1"/>
          <p:nvPr>
            <p:ph idx="1" type="body"/>
          </p:nvPr>
        </p:nvSpPr>
        <p:spPr>
          <a:xfrm>
            <a:off x="761825" y="1988833"/>
            <a:ext cx="106593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800"/>
              <a:t>❌  ai_dev_kit (databricks-solutions/ai-dev-kit) → Deprecated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800"/>
              <a:t>✅  ai_agent_skills (databricks/databricks-agent-skills) → 公式 1P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800"/>
              <a:t>📌  コミュニティスキル集 → 公式プラットフォームへ昇格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800"/>
              <a:t>🔄  数週間以内に統合完了予定</a:t>
            </a:r>
            <a:endParaRPr/>
          </a:p>
        </p:txBody>
      </p:sp>
      <p:sp>
        <p:nvSpPr>
          <p:cNvPr id="318" name="Google Shape;318;p2"/>
          <p:cNvSpPr txBox="1"/>
          <p:nvPr>
            <p:ph idx="2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rPr lang="en"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コミュニティ集 → 公式プラットフォームへ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ai_dev_kit vs ai_agent_skills — 主な違い</a:t>
            </a:r>
            <a:endParaRPr/>
          </a:p>
        </p:txBody>
      </p:sp>
      <p:sp>
        <p:nvSpPr>
          <p:cNvPr id="324" name="Google Shape;324;p3"/>
          <p:cNvSpPr txBox="1"/>
          <p:nvPr>
            <p:ph idx="1" type="body"/>
          </p:nvPr>
        </p:nvSpPr>
        <p:spPr>
          <a:xfrm>
            <a:off x="761825" y="1988833"/>
            <a:ext cx="106593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1️⃣  リポ所有権: Community → 公式 1P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2️⃣  Stable / Experimental 二層構造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3️⃣  インストール: install.sh → databricks aitools install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4️⃣  マルチエージェント対応拡大（Claude Code, Cursor, Codex, Copilot, OpenCode, Antigravity）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5️⃣  Commands &amp; Hooks の追加（Plugin方式のみ）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6️⃣  Skill階層構造: Parent-Child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7️⃣  アップデート管理: databricks aitools update</a:t>
            </a:r>
            <a:endParaRPr/>
          </a:p>
        </p:txBody>
      </p:sp>
      <p:sp>
        <p:nvSpPr>
          <p:cNvPr id="325" name="Google Shape;325;p3"/>
          <p:cNvSpPr txBox="1"/>
          <p:nvPr>
            <p:ph idx="2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t/>
            </a:r>
            <a:endParaRPr>
              <a:solidFill>
                <a:srgbClr val="FF362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8b869bc84d_0_0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lang="en">
                <a:solidFill>
                  <a:srgbClr val="0B2026"/>
                </a:solidFill>
                <a:latin typeface="Arial"/>
                <a:ea typeface="Arial"/>
                <a:cs typeface="Arial"/>
                <a:sym typeface="Arial"/>
              </a:rPr>
              <a:t>Commands &amp; Skills とは？</a:t>
            </a:r>
            <a:r>
              <a:rPr b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31" name="Google Shape;331;g38b869bc84d_0_0"/>
          <p:cNvSpPr txBox="1"/>
          <p:nvPr>
            <p:ph idx="5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3621"/>
                </a:solidFill>
                <a:latin typeface="Arial"/>
                <a:ea typeface="Arial"/>
                <a:cs typeface="Arial"/>
                <a:sym typeface="Arial"/>
              </a:rPr>
              <a:t>エージェントに「知識」と「操作」を追加する2つの仕組み</a:t>
            </a:r>
            <a:endParaRPr>
              <a:solidFill>
                <a:srgbClr val="FF36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32" name="Google Shape;332;g38b869bc84d_0_0"/>
          <p:cNvSpPr txBox="1"/>
          <p:nvPr>
            <p:ph idx="1" type="body"/>
          </p:nvPr>
        </p:nvSpPr>
        <p:spPr>
          <a:xfrm>
            <a:off x="761825" y="1988833"/>
            <a:ext cx="106593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>
                <a:solidFill>
                  <a:srgbClr val="0B2026"/>
                </a:solidFill>
              </a:rPr>
              <a:t>🧠  Skills（スキル）= エージェントに渡す“知識・ノウハウ”</a:t>
            </a:r>
            <a:endParaRPr sz="1600">
              <a:solidFill>
                <a:srgbClr val="0B202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2026"/>
                </a:solidFill>
              </a:rPr>
              <a:t>•</a:t>
            </a:r>
            <a:r>
              <a:rPr lang="en" sz="1600">
                <a:solidFill>
                  <a:srgbClr val="0B2026"/>
                </a:solidFill>
              </a:rPr>
              <a:t>タスクに応じて必要な手順・ベストプラクティスを自動で読み込む</a:t>
            </a:r>
            <a:endParaRPr sz="1600">
              <a:solidFill>
                <a:srgbClr val="0B202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2026"/>
                </a:solidFill>
              </a:rPr>
              <a:t>•</a:t>
            </a:r>
            <a:r>
              <a:rPr lang="en" sz="1600">
                <a:solidFill>
                  <a:srgbClr val="0B2026"/>
                </a:solidFill>
              </a:rPr>
              <a:t>例) databricks-lakebase を読み込んで正しい接続コードを生成</a:t>
            </a:r>
            <a:endParaRPr sz="1600">
              <a:solidFill>
                <a:srgbClr val="0B202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2026"/>
                </a:solidFill>
              </a:rPr>
              <a:t>•</a:t>
            </a:r>
            <a:r>
              <a:rPr lang="en" sz="1600">
                <a:solidFill>
                  <a:srgbClr val="0B2026"/>
                </a:solidFill>
              </a:rPr>
              <a:t>呼び出し: タスク内容から自動選択、または /skill-name で明示</a:t>
            </a:r>
            <a:endParaRPr sz="2400">
              <a:solidFill>
                <a:srgbClr val="0B2026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>
                <a:solidFill>
                  <a:srgbClr val="0B2026"/>
                </a:solidFill>
              </a:rPr>
              <a:t>⚡  Commands（コマンド）= “ワンコマンドで実行する定型ワークフロー”</a:t>
            </a:r>
            <a:endParaRPr sz="1600">
              <a:solidFill>
                <a:srgbClr val="0B202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2026"/>
                </a:solidFill>
              </a:rPr>
              <a:t>•</a:t>
            </a:r>
            <a:r>
              <a:rPr lang="en" sz="1600">
                <a:solidFill>
                  <a:srgbClr val="0B2026"/>
                </a:solidFill>
              </a:rPr>
              <a:t>/command 形式で、決まった手順を即座に起動する</a:t>
            </a:r>
            <a:endParaRPr sz="1600">
              <a:solidFill>
                <a:srgbClr val="0B202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2026"/>
                </a:solidFill>
              </a:rPr>
              <a:t>•</a:t>
            </a:r>
            <a:r>
              <a:rPr lang="en" sz="1600">
                <a:solidFill>
                  <a:srgbClr val="0B2026"/>
                </a:solidFill>
              </a:rPr>
              <a:t>例) /databricks:setup（認証設定）, /databricks:doctor（ヘルスチェック）</a:t>
            </a:r>
            <a:endParaRPr sz="1600">
              <a:solidFill>
                <a:srgbClr val="0B202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2026"/>
                </a:solidFill>
              </a:rPr>
              <a:t>•</a:t>
            </a:r>
            <a:r>
              <a:rPr lang="en" sz="1600">
                <a:solidFill>
                  <a:srgbClr val="0B2026"/>
                </a:solidFill>
              </a:rPr>
              <a:t>提供方法: Plugin 方式でインストールした時のみ利用可能</a:t>
            </a:r>
            <a:endParaRPr sz="1600">
              <a:solidFill>
                <a:srgbClr val="0B20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B2026"/>
                </a:solidFill>
              </a:rPr>
              <a:t>•</a:t>
            </a:r>
            <a:r>
              <a:rPr lang="en" sz="1600">
                <a:solidFill>
                  <a:srgbClr val="0B2026"/>
                </a:solidFill>
              </a:rPr>
              <a:t>💡  Skills = 「何を知っているか」／ Commands = 「何をすぐ実行できるか」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b869bc84d_0_13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lang="en">
                <a:solidFill>
                  <a:srgbClr val="0B2026"/>
                </a:solidFill>
                <a:latin typeface="Arial"/>
                <a:ea typeface="Arial"/>
                <a:cs typeface="Arial"/>
                <a:sym typeface="Arial"/>
              </a:rPr>
              <a:t>Commands と Skills の違い・使い分け</a:t>
            </a:r>
            <a:r>
              <a:rPr b="0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38" name="Google Shape;338;g38b869bc84d_0_13"/>
          <p:cNvSpPr txBox="1"/>
          <p:nvPr>
            <p:ph idx="5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39" name="Google Shape;339;g38b869bc84d_0_13"/>
          <p:cNvSpPr txBox="1"/>
          <p:nvPr>
            <p:ph idx="1" type="body"/>
          </p:nvPr>
        </p:nvSpPr>
        <p:spPr>
          <a:xfrm>
            <a:off x="761825" y="2691875"/>
            <a:ext cx="57438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B2026"/>
              </a:buClr>
              <a:buSzPts val="1700"/>
              <a:buChar char="•"/>
            </a:pPr>
            <a:r>
              <a:rPr lang="en" sz="1700">
                <a:solidFill>
                  <a:srgbClr val="0B2026"/>
                </a:solidFill>
              </a:rPr>
              <a:t>役割: ドメイン知識・手順を注入</a:t>
            </a:r>
            <a:endParaRPr sz="1700">
              <a:solidFill>
                <a:srgbClr val="0B2026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700"/>
              <a:buChar char="•"/>
            </a:pPr>
            <a:r>
              <a:rPr lang="en" sz="1700">
                <a:solidFill>
                  <a:srgbClr val="0B2026"/>
                </a:solidFill>
              </a:rPr>
              <a:t>粒度: 幅広い（例: apps, lakebase, sql...）</a:t>
            </a:r>
            <a:endParaRPr sz="1700">
              <a:solidFill>
                <a:srgbClr val="0B2026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700"/>
              <a:buChar char="•"/>
            </a:pPr>
            <a:r>
              <a:rPr lang="en" sz="1700">
                <a:solidFill>
                  <a:srgbClr val="0B2026"/>
                </a:solidFill>
              </a:rPr>
              <a:t>起動: タスクから自動 or /skill-name</a:t>
            </a:r>
            <a:endParaRPr sz="1700">
              <a:solidFill>
                <a:srgbClr val="0B2026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700"/>
              <a:buChar char="•"/>
            </a:pPr>
            <a:r>
              <a:rPr lang="en" sz="1700">
                <a:solidFill>
                  <a:srgbClr val="0B2026"/>
                </a:solidFill>
              </a:rPr>
              <a:t>構造: Parent-Child の階層</a:t>
            </a:r>
            <a:endParaRPr sz="1700">
              <a:solidFill>
                <a:srgbClr val="0B2026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700"/>
              <a:buChar char="•"/>
            </a:pPr>
            <a:r>
              <a:rPr lang="en" sz="1700">
                <a:solidFill>
                  <a:srgbClr val="0B2026"/>
                </a:solidFill>
              </a:rPr>
              <a:t>例:</a:t>
            </a:r>
            <a:endParaRPr sz="1700">
              <a:solidFill>
                <a:srgbClr val="0B2026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700"/>
              <a:buChar char="•"/>
            </a:pPr>
            <a:r>
              <a:rPr lang="en" sz="1700">
                <a:solidFill>
                  <a:srgbClr val="0B2026"/>
                </a:solidFill>
              </a:rPr>
              <a:t>Databricks-core（親）</a:t>
            </a:r>
            <a:endParaRPr sz="1700">
              <a:solidFill>
                <a:srgbClr val="0B2026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700"/>
              <a:buChar char="•"/>
            </a:pPr>
            <a:r>
              <a:rPr lang="en" sz="1700">
                <a:solidFill>
                  <a:srgbClr val="0B2026"/>
                </a:solidFill>
              </a:rPr>
              <a:t>+ databricks-apps（子）</a:t>
            </a:r>
            <a:endParaRPr sz="1700">
              <a:solidFill>
                <a:srgbClr val="0B2026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700"/>
              <a:buChar char="•"/>
            </a:pPr>
            <a:r>
              <a:rPr lang="en" sz="1700">
                <a:solidFill>
                  <a:srgbClr val="0B2026"/>
                </a:solidFill>
              </a:rPr>
              <a:t>+ databricks-lakebase（子）</a:t>
            </a:r>
            <a:endParaRPr sz="1700">
              <a:solidFill>
                <a:srgbClr val="0B2026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700"/>
              <a:buChar char="•"/>
            </a:pPr>
            <a:r>
              <a:rPr lang="en" sz="1700">
                <a:solidFill>
                  <a:srgbClr val="0B2026"/>
                </a:solidFill>
              </a:rPr>
              <a:t>→ 「アプリ作って」で最適なスキルが自動適用</a:t>
            </a:r>
            <a:endParaRPr sz="1700">
              <a:solidFill>
                <a:srgbClr val="0B20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0" name="Google Shape;340;g38b869bc84d_0_13"/>
          <p:cNvSpPr txBox="1"/>
          <p:nvPr>
            <p:ph idx="2" type="body"/>
          </p:nvPr>
        </p:nvSpPr>
        <p:spPr>
          <a:xfrm>
            <a:off x="6916611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B2026"/>
              </a:buClr>
              <a:buSzPts val="1400"/>
              <a:buChar char="•"/>
            </a:pPr>
            <a:r>
              <a:rPr lang="en" sz="1400">
                <a:solidFill>
                  <a:srgbClr val="0B2026"/>
                </a:solidFill>
              </a:rPr>
              <a:t>役割: 定型ワークフローを即実行</a:t>
            </a:r>
            <a:endParaRPr sz="1400">
              <a:solidFill>
                <a:srgbClr val="0B2026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400"/>
              <a:buChar char="•"/>
            </a:pPr>
            <a:r>
              <a:rPr lang="en" sz="1400">
                <a:solidFill>
                  <a:srgbClr val="0B2026"/>
                </a:solidFill>
              </a:rPr>
              <a:t>粒度: 目的特化（1コマンド=1タスク）</a:t>
            </a:r>
            <a:endParaRPr sz="1400">
              <a:solidFill>
                <a:srgbClr val="0B2026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400"/>
              <a:buChar char="•"/>
            </a:pPr>
            <a:r>
              <a:rPr lang="en" sz="1400">
                <a:solidFill>
                  <a:srgbClr val="0B2026"/>
                </a:solidFill>
              </a:rPr>
              <a:t>起動: /command を明示的に入力</a:t>
            </a:r>
            <a:endParaRPr sz="1400">
              <a:solidFill>
                <a:srgbClr val="0B2026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400"/>
              <a:buChar char="•"/>
            </a:pPr>
            <a:r>
              <a:rPr lang="en" sz="1400">
                <a:solidFill>
                  <a:srgbClr val="0B2026"/>
                </a:solidFill>
              </a:rPr>
              <a:t>提供: Plugin 方式のみ</a:t>
            </a:r>
            <a:endParaRPr sz="1400">
              <a:solidFill>
                <a:srgbClr val="0B2026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400"/>
              <a:buChar char="•"/>
            </a:pPr>
            <a:r>
              <a:rPr lang="en" sz="1400">
                <a:solidFill>
                  <a:srgbClr val="0B2026"/>
                </a:solidFill>
              </a:rPr>
              <a:t>例:</a:t>
            </a:r>
            <a:endParaRPr sz="1400">
              <a:solidFill>
                <a:srgbClr val="0B2026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400"/>
              <a:buChar char="•"/>
            </a:pPr>
            <a:r>
              <a:rPr lang="en" sz="1400">
                <a:solidFill>
                  <a:srgbClr val="0B2026"/>
                </a:solidFill>
              </a:rPr>
              <a:t>/databricks:setup   — 認証プロファイル作</a:t>
            </a:r>
            <a:endParaRPr sz="1400">
              <a:solidFill>
                <a:srgbClr val="0B2026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400"/>
              <a:buChar char="•"/>
            </a:pPr>
            <a:r>
              <a:rPr lang="en" sz="1400">
                <a:solidFill>
                  <a:srgbClr val="0B2026"/>
                </a:solidFill>
              </a:rPr>
              <a:t>/databricks:doctor  — 接続ヘルスチェック</a:t>
            </a:r>
            <a:endParaRPr sz="1400">
              <a:solidFill>
                <a:srgbClr val="0B2026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400"/>
              <a:buChar char="•"/>
            </a:pPr>
            <a:r>
              <a:rPr lang="en" sz="1400">
                <a:solidFill>
                  <a:srgbClr val="0B2026"/>
                </a:solidFill>
              </a:rPr>
              <a:t>付随機能: Prompt Router / Context Primer /</a:t>
            </a:r>
            <a:endParaRPr sz="1400">
              <a:solidFill>
                <a:srgbClr val="0B2026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400"/>
              <a:buChar char="•"/>
            </a:pPr>
            <a:r>
              <a:rPr lang="en" sz="1400">
                <a:solidFill>
                  <a:srgbClr val="0B2026"/>
                </a:solidFill>
              </a:rPr>
              <a:t>Auth Hint（Plugin導入で有効化）</a:t>
            </a:r>
            <a:endParaRPr sz="1400">
              <a:solidFill>
                <a:srgbClr val="0B2026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026"/>
              </a:buClr>
              <a:buSzPts val="1400"/>
              <a:buChar char="•"/>
            </a:pPr>
            <a:r>
              <a:rPr lang="en" sz="1400">
                <a:solidFill>
                  <a:srgbClr val="0B2026"/>
                </a:solidFill>
              </a:rPr>
              <a:t>💡 上級者は Plugin 方式で両方フル活用</a:t>
            </a:r>
            <a:endParaRPr sz="1400">
              <a:solidFill>
                <a:srgbClr val="0B20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41" name="Google Shape;341;g38b869bc84d_0_13"/>
          <p:cNvSpPr txBox="1"/>
          <p:nvPr>
            <p:ph idx="3" type="subTitle"/>
          </p:nvPr>
        </p:nvSpPr>
        <p:spPr>
          <a:xfrm>
            <a:off x="795830" y="1970333"/>
            <a:ext cx="4484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2026"/>
                </a:solidFill>
              </a:rPr>
              <a:t>🧠 Skills（知識）</a:t>
            </a:r>
            <a:endParaRPr>
              <a:solidFill>
                <a:srgbClr val="0B2026"/>
              </a:solidFill>
            </a:endParaRPr>
          </a:p>
          <a:p>
            <a:pPr indent="0" lvl="0" marL="76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42" name="Google Shape;342;g38b869bc84d_0_13"/>
          <p:cNvSpPr txBox="1"/>
          <p:nvPr>
            <p:ph idx="4" type="subTitle"/>
          </p:nvPr>
        </p:nvSpPr>
        <p:spPr>
          <a:xfrm>
            <a:off x="6933707" y="1970333"/>
            <a:ext cx="4485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2026"/>
                </a:solidFill>
              </a:rPr>
              <a:t>⚡ Commands（操作）</a:t>
            </a:r>
            <a:endParaRPr>
              <a:solidFill>
                <a:srgbClr val="0B2026"/>
              </a:solidFill>
            </a:endParaRPr>
          </a:p>
          <a:p>
            <a:pPr indent="0" lvl="0" marL="76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Databricks CLI インストール（前提条件）</a:t>
            </a:r>
            <a:endParaRPr/>
          </a:p>
        </p:txBody>
      </p:sp>
      <p:sp>
        <p:nvSpPr>
          <p:cNvPr id="348" name="Google Shape;348;p4"/>
          <p:cNvSpPr txBox="1"/>
          <p:nvPr>
            <p:ph idx="1" type="body"/>
          </p:nvPr>
        </p:nvSpPr>
        <p:spPr>
          <a:xfrm>
            <a:off x="761825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Homebrew: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brew tap databricks/tap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brew trust databricks/tap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brew install databricks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curl (macOS / Linux):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curl -fsSL https://raw.githubusercontent.com/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  databricks/setup-cli/main/install.sh | sh</a:t>
            </a:r>
            <a:endParaRPr/>
          </a:p>
        </p:txBody>
      </p:sp>
      <p:sp>
        <p:nvSpPr>
          <p:cNvPr id="349" name="Google Shape;349;p4"/>
          <p:cNvSpPr txBox="1"/>
          <p:nvPr>
            <p:ph idx="2" type="body"/>
          </p:nvPr>
        </p:nvSpPr>
        <p:spPr>
          <a:xfrm>
            <a:off x="6916611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WinGet: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winget install Databricks.DatabricksCLI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確認: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databricks --version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# → v1.0.0 以上</a:t>
            </a:r>
            <a:endParaRPr/>
          </a:p>
        </p:txBody>
      </p:sp>
      <p:sp>
        <p:nvSpPr>
          <p:cNvPr id="350" name="Google Shape;350;p4"/>
          <p:cNvSpPr txBox="1"/>
          <p:nvPr>
            <p:ph idx="3" type="subTitle"/>
          </p:nvPr>
        </p:nvSpPr>
        <p:spPr>
          <a:xfrm>
            <a:off x="795830" y="1970333"/>
            <a:ext cx="4484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macOS</a:t>
            </a:r>
            <a:endParaRPr/>
          </a:p>
        </p:txBody>
      </p:sp>
      <p:sp>
        <p:nvSpPr>
          <p:cNvPr id="351" name="Google Shape;351;p4"/>
          <p:cNvSpPr txBox="1"/>
          <p:nvPr>
            <p:ph idx="4" type="subTitle"/>
          </p:nvPr>
        </p:nvSpPr>
        <p:spPr>
          <a:xfrm>
            <a:off x="6933707" y="1970333"/>
            <a:ext cx="4485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Windows / 確認</a:t>
            </a:r>
            <a:endParaRPr/>
          </a:p>
        </p:txBody>
      </p:sp>
      <p:sp>
        <p:nvSpPr>
          <p:cNvPr id="352" name="Google Shape;352;p4"/>
          <p:cNvSpPr txBox="1"/>
          <p:nvPr>
            <p:ph idx="5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t/>
            </a:r>
            <a:endParaRPr>
              <a:solidFill>
                <a:srgbClr val="FF362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Databricks Workspace 接続設定</a:t>
            </a:r>
            <a:endParaRPr/>
          </a:p>
        </p:txBody>
      </p:sp>
      <p:sp>
        <p:nvSpPr>
          <p:cNvPr id="358" name="Google Shape;358;p5"/>
          <p:cNvSpPr txBox="1"/>
          <p:nvPr>
            <p:ph idx="1" type="body"/>
          </p:nvPr>
        </p:nvSpPr>
        <p:spPr>
          <a:xfrm>
            <a:off x="761825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~/.databrickscfg を編集: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[DEFAULT]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host = https://&lt;workspace-url&gt;.cloud.databricks.com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token = dapi_xxxxxxxxxxxxxxxx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※ Token: Workspace → User Settings →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   Developer → Access Tokens</a:t>
            </a:r>
            <a:endParaRPr/>
          </a:p>
        </p:txBody>
      </p:sp>
      <p:sp>
        <p:nvSpPr>
          <p:cNvPr id="359" name="Google Shape;359;p5"/>
          <p:cNvSpPr txBox="1"/>
          <p:nvPr>
            <p:ph idx="2" type="body"/>
          </p:nvPr>
        </p:nvSpPr>
        <p:spPr>
          <a:xfrm>
            <a:off x="6147323" y="2691900"/>
            <a:ext cx="52605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[caddi-prod]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host = https://caddi-prod...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token = dapi_xxxxx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[caddi-dev]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host = https://caddi-dev...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token = dapi_yyyyy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export DATABRICKS_CONFIG_PROFILE=caddi-prod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💡 Claude Codeは ~/.databrickscfg を自動使用</a:t>
            </a:r>
            <a:endParaRPr/>
          </a:p>
        </p:txBody>
      </p:sp>
      <p:sp>
        <p:nvSpPr>
          <p:cNvPr id="360" name="Google Shape;360;p5"/>
          <p:cNvSpPr txBox="1"/>
          <p:nvPr>
            <p:ph idx="3" type="subTitle"/>
          </p:nvPr>
        </p:nvSpPr>
        <p:spPr>
          <a:xfrm>
            <a:off x="795830" y="1970333"/>
            <a:ext cx="4484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トークン方式（推奨）</a:t>
            </a:r>
            <a:endParaRPr/>
          </a:p>
        </p:txBody>
      </p:sp>
      <p:sp>
        <p:nvSpPr>
          <p:cNvPr id="361" name="Google Shape;361;p5"/>
          <p:cNvSpPr txBox="1"/>
          <p:nvPr>
            <p:ph idx="4" type="subTitle"/>
          </p:nvPr>
        </p:nvSpPr>
        <p:spPr>
          <a:xfrm>
            <a:off x="6164282" y="1904646"/>
            <a:ext cx="4485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複数Workspace</a:t>
            </a:r>
            <a:endParaRPr/>
          </a:p>
        </p:txBody>
      </p:sp>
      <p:sp>
        <p:nvSpPr>
          <p:cNvPr id="362" name="Google Shape;362;p5"/>
          <p:cNvSpPr txBox="1"/>
          <p:nvPr>
            <p:ph idx="5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t/>
            </a:r>
            <a:endParaRPr>
              <a:solidFill>
                <a:srgbClr val="FF362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Agent Skills インストール（CLI方式）</a:t>
            </a:r>
            <a:endParaRPr/>
          </a:p>
        </p:txBody>
      </p:sp>
      <p:sp>
        <p:nvSpPr>
          <p:cNvPr id="368" name="Google Shape;368;p6"/>
          <p:cNvSpPr txBox="1"/>
          <p:nvPr>
            <p:ph idx="1" type="body"/>
          </p:nvPr>
        </p:nvSpPr>
        <p:spPr>
          <a:xfrm>
            <a:off x="761825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# 全スキル（推奨）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databricks aitools install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# Claude Code専用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databricks aitools install --agents claude-code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# プロジェクトスコープ / 特定スキル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databricks aitools install --scope project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databricks aitools install --skills bundles,sql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# Experimentalも含める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databricks aitools install --experimental</a:t>
            </a:r>
            <a:endParaRPr/>
          </a:p>
        </p:txBody>
      </p:sp>
      <p:sp>
        <p:nvSpPr>
          <p:cNvPr id="369" name="Google Shape;369;p6"/>
          <p:cNvSpPr txBox="1"/>
          <p:nvPr>
            <p:ph idx="2" type="body"/>
          </p:nvPr>
        </p:nvSpPr>
        <p:spPr>
          <a:xfrm>
            <a:off x="6916611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databricks aitools list       # 確認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databricks aitools update     # 更新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databricks aitools uninstall  # 削除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databricks aitools version    # Ver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既存 ai_dev_kit ユーザー: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1. ai_dev_kit をアンインストール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2. databricks aitools install で新規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※ 今後アップグレードパスも提供予定</a:t>
            </a:r>
            <a:endParaRPr/>
          </a:p>
        </p:txBody>
      </p:sp>
      <p:sp>
        <p:nvSpPr>
          <p:cNvPr id="370" name="Google Shape;370;p6"/>
          <p:cNvSpPr txBox="1"/>
          <p:nvPr>
            <p:ph idx="3" type="subTitle"/>
          </p:nvPr>
        </p:nvSpPr>
        <p:spPr>
          <a:xfrm>
            <a:off x="795830" y="1970333"/>
            <a:ext cx="4484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インストール</a:t>
            </a:r>
            <a:endParaRPr/>
          </a:p>
        </p:txBody>
      </p:sp>
      <p:sp>
        <p:nvSpPr>
          <p:cNvPr id="371" name="Google Shape;371;p6"/>
          <p:cNvSpPr txBox="1"/>
          <p:nvPr>
            <p:ph idx="4" type="subTitle"/>
          </p:nvPr>
        </p:nvSpPr>
        <p:spPr>
          <a:xfrm>
            <a:off x="6933707" y="1970333"/>
            <a:ext cx="4485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管理コマンド</a:t>
            </a:r>
            <a:endParaRPr/>
          </a:p>
        </p:txBody>
      </p:sp>
      <p:sp>
        <p:nvSpPr>
          <p:cNvPr id="372" name="Google Shape;372;p6"/>
          <p:cNvSpPr txBox="1"/>
          <p:nvPr>
            <p:ph idx="5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t/>
            </a:r>
            <a:endParaRPr>
              <a:solidFill>
                <a:srgbClr val="FF362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Claude Codeをお持ちでない方へ</a:t>
            </a:r>
            <a:endParaRPr/>
          </a:p>
        </p:txBody>
      </p:sp>
      <p:sp>
        <p:nvSpPr>
          <p:cNvPr id="378" name="Google Shape;378;p7"/>
          <p:cNvSpPr txBox="1"/>
          <p:nvPr>
            <p:ph idx="1" type="body"/>
          </p:nvPr>
        </p:nvSpPr>
        <p:spPr>
          <a:xfrm>
            <a:off x="761825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Agent SkillsはClaude Code専用ではありません。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Cursor（無料プランあり）: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databricks aitools install --agents cursor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https://cursor.com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GitHub Copilot: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databricks aitools install --agents github-copilot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Codex CLI: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databricks aitools install --agents codex</a:t>
            </a:r>
            <a:endParaRPr/>
          </a:p>
        </p:txBody>
      </p:sp>
      <p:sp>
        <p:nvSpPr>
          <p:cNvPr id="379" name="Google Shape;379;p7"/>
          <p:cNvSpPr txBox="1"/>
          <p:nvPr>
            <p:ph idx="2" type="body"/>
          </p:nvPr>
        </p:nvSpPr>
        <p:spPr>
          <a:xfrm>
            <a:off x="6916611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おすすめ: Cursor（無料で十分）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https://cursor.com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または: Genie Code（ブラウザ完結）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💡 スキル内容はどのエージェントでも同じ</a:t>
            </a:r>
            <a:endParaRPr/>
          </a:p>
        </p:txBody>
      </p:sp>
      <p:sp>
        <p:nvSpPr>
          <p:cNvPr id="380" name="Google Shape;380;p7"/>
          <p:cNvSpPr txBox="1"/>
          <p:nvPr>
            <p:ph idx="3" type="subTitle"/>
          </p:nvPr>
        </p:nvSpPr>
        <p:spPr>
          <a:xfrm>
            <a:off x="795830" y="1970333"/>
            <a:ext cx="4484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各エージェント対応</a:t>
            </a:r>
            <a:endParaRPr/>
          </a:p>
        </p:txBody>
      </p:sp>
      <p:sp>
        <p:nvSpPr>
          <p:cNvPr id="381" name="Google Shape;381;p7"/>
          <p:cNvSpPr txBox="1"/>
          <p:nvPr>
            <p:ph idx="4" type="subTitle"/>
          </p:nvPr>
        </p:nvSpPr>
        <p:spPr>
          <a:xfrm>
            <a:off x="6933707" y="1970333"/>
            <a:ext cx="4485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エージェント未導入の方</a:t>
            </a:r>
            <a:endParaRPr/>
          </a:p>
        </p:txBody>
      </p:sp>
      <p:sp>
        <p:nvSpPr>
          <p:cNvPr id="382" name="Google Shape;382;p7"/>
          <p:cNvSpPr txBox="1"/>
          <p:nvPr>
            <p:ph idx="5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t/>
            </a:r>
            <a:endParaRPr>
              <a:solidFill>
                <a:srgbClr val="FF362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8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利用可能な Stable Skills（28スキル）</a:t>
            </a:r>
            <a:endParaRPr/>
          </a:p>
        </p:txBody>
      </p:sp>
      <p:sp>
        <p:nvSpPr>
          <p:cNvPr id="388" name="Google Shape;388;p8"/>
          <p:cNvSpPr txBox="1"/>
          <p:nvPr>
            <p:ph idx="1" type="body"/>
          </p:nvPr>
        </p:nvSpPr>
        <p:spPr>
          <a:xfrm>
            <a:off x="761825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【Core】 databricks-core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【AI &amp; Agents】 agent-bricks, ai-functions,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model-serving, vector-search, mlflow-evaluation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【Data Eng】 pipelines, jobs, lakeflow-connect,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spark-structured-streaming, zerobus-ingest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【Analytics】 aibi-dashboards, dbsql, metric-views</a:t>
            </a:r>
            <a:endParaRPr/>
          </a:p>
        </p:txBody>
      </p:sp>
      <p:sp>
        <p:nvSpPr>
          <p:cNvPr id="389" name="Google Shape;389;p8"/>
          <p:cNvSpPr txBox="1"/>
          <p:nvPr>
            <p:ph idx="2" type="body"/>
          </p:nvPr>
        </p:nvSpPr>
        <p:spPr>
          <a:xfrm>
            <a:off x="6916611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【Apps】 apps, apps-python, app-design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【Platform】 dabs, unity-catalog, lakebase,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iceberg, serverless-migration, python-sdk, docs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400"/>
              <a:t>📌 今回使用: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• databricks-apps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• databricks-lakebase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400"/>
              <a:t>• databricks-ai-functions</a:t>
            </a:r>
            <a:endParaRPr/>
          </a:p>
        </p:txBody>
      </p:sp>
      <p:sp>
        <p:nvSpPr>
          <p:cNvPr id="390" name="Google Shape;390;p8"/>
          <p:cNvSpPr txBox="1"/>
          <p:nvPr>
            <p:ph idx="3" type="subTitle"/>
          </p:nvPr>
        </p:nvSpPr>
        <p:spPr>
          <a:xfrm>
            <a:off x="795830" y="1970333"/>
            <a:ext cx="4484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カテゴリ別</a:t>
            </a:r>
            <a:endParaRPr/>
          </a:p>
        </p:txBody>
      </p:sp>
      <p:sp>
        <p:nvSpPr>
          <p:cNvPr id="391" name="Google Shape;391;p8"/>
          <p:cNvSpPr txBox="1"/>
          <p:nvPr>
            <p:ph idx="4" type="subTitle"/>
          </p:nvPr>
        </p:nvSpPr>
        <p:spPr>
          <a:xfrm>
            <a:off x="6933707" y="1970333"/>
            <a:ext cx="4485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Apps / Platform</a:t>
            </a:r>
            <a:endParaRPr/>
          </a:p>
        </p:txBody>
      </p:sp>
      <p:sp>
        <p:nvSpPr>
          <p:cNvPr id="392" name="Google Shape;392;p8"/>
          <p:cNvSpPr txBox="1"/>
          <p:nvPr>
            <p:ph idx="5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t/>
            </a:r>
            <a:endParaRPr>
              <a:solidFill>
                <a:srgbClr val="FF362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9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デモ紹介 — 図面PDF解析アプリ</a:t>
            </a:r>
            <a:endParaRPr/>
          </a:p>
        </p:txBody>
      </p:sp>
      <p:sp>
        <p:nvSpPr>
          <p:cNvPr id="398" name="Google Shape;398;p9"/>
          <p:cNvSpPr txBox="1"/>
          <p:nvPr>
            <p:ph idx="1" type="body"/>
          </p:nvPr>
        </p:nvSpPr>
        <p:spPr>
          <a:xfrm>
            <a:off x="761825" y="1988833"/>
            <a:ext cx="106593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コンセプト: Claude Code + Agent Skills で事前に構築済み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使用機能: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" sz="1600"/>
              <a:t>🔍  ai_parse_document — PDF解析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" sz="1600"/>
              <a:t>🗄️  Lakebase — 構造化データ永続化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" sz="1600"/>
              <a:t>🌐  Databricks Apps — WebアプリUI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" sz="1600"/>
              <a:t>📁  UC Volumes — PDFストレージ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Flow: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" sz="1600"/>
              <a:t>PDF Upload → UC Volumes → ai_parse_document → Lakebase → App UI</a:t>
            </a:r>
            <a:endParaRPr/>
          </a:p>
        </p:txBody>
      </p:sp>
      <p:sp>
        <p:nvSpPr>
          <p:cNvPr id="399" name="Google Shape;399;p9"/>
          <p:cNvSpPr txBox="1"/>
          <p:nvPr>
            <p:ph idx="2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rPr lang="en"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図面PDF → AI解析 → 構造化 → Lakebase → 検索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0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どういうリソースが作られたか？</a:t>
            </a:r>
            <a:endParaRPr/>
          </a:p>
        </p:txBody>
      </p:sp>
      <p:sp>
        <p:nvSpPr>
          <p:cNvPr id="405" name="Google Shape;405;p10"/>
          <p:cNvSpPr txBox="1"/>
          <p:nvPr>
            <p:ph idx="1" type="body"/>
          </p:nvPr>
        </p:nvSpPr>
        <p:spPr>
          <a:xfrm>
            <a:off x="761825" y="1988833"/>
            <a:ext cx="106593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drawing-parser-app   —   Databricks App   —   UI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drawings                    —   UC Volume          —   PDF保管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parsed_drawings         —   Lakebase Table   —   構造化データ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（任意）search_index  —   Vector Search      —   類似検索</a:t>
            </a:r>
            <a:endParaRPr/>
          </a:p>
        </p:txBody>
      </p:sp>
      <p:sp>
        <p:nvSpPr>
          <p:cNvPr id="406" name="Google Shape;406;p10"/>
          <p:cNvSpPr txBox="1"/>
          <p:nvPr>
            <p:ph idx="2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rPr lang="en">
                <a:solidFill>
                  <a:srgbClr val="FF362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すべてClaude Codeへの指示だけで自動生成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i="0" lang="en" sz="340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どんなプロンプトで作ったか？（ワンショット指示）</a:t>
            </a:r>
            <a:endParaRPr sz="3400"/>
          </a:p>
        </p:txBody>
      </p:sp>
      <p:sp>
        <p:nvSpPr>
          <p:cNvPr id="412" name="Google Shape;412;p11"/>
          <p:cNvSpPr txBox="1"/>
          <p:nvPr>
            <p:ph idx="1" type="body"/>
          </p:nvPr>
        </p:nvSpPr>
        <p:spPr>
          <a:xfrm>
            <a:off x="761825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66667"/>
              <a:buChar char="•"/>
            </a:pPr>
            <a:r>
              <a:rPr lang="en" sz="1200"/>
              <a:t>「Databricks Appを作成してください。図面PDFを</a:t>
            </a:r>
            <a:endParaRPr/>
          </a:p>
          <a:p>
            <a:pPr indent="-31496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アップロードすると ai_parse_document で解析し、</a:t>
            </a:r>
            <a:endParaRPr/>
          </a:p>
          <a:p>
            <a:pPr indent="-31496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構造化結果を Lakebase に保存するアプリです。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66667"/>
              <a:buChar char="•"/>
            </a:pPr>
            <a:r>
              <a:rPr lang="en" sz="1200"/>
              <a:t>• バックエンドは FastAPI、フロントは React(Vite)。</a:t>
            </a:r>
            <a:endParaRPr/>
          </a:p>
          <a:p>
            <a:pPr indent="-31496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CORS回避のため単一プロセスで API と静的ファイルを</a:t>
            </a:r>
            <a:endParaRPr/>
          </a:p>
          <a:p>
            <a:pPr indent="-31496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配信し、0.0.0.0 と DATABRICKS_APP_PORT でバインド。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66667"/>
              <a:buChar char="•"/>
            </a:pPr>
            <a:r>
              <a:rPr lang="en" sz="1200"/>
              <a:t>• PDFは UC Volume に保存（ファイル名は UUID接頭辞。</a:t>
            </a:r>
            <a:endParaRPr/>
          </a:p>
          <a:p>
            <a:pPr indent="-31496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read_files が無視するため _ や . で始めない）。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66667"/>
              <a:buChar char="•"/>
            </a:pPr>
            <a:r>
              <a:rPr lang="en" sz="1200"/>
              <a:t>• Lakebase接続は SDK で host/user/token を解決</a:t>
            </a:r>
            <a:endParaRPr/>
          </a:p>
          <a:p>
            <a:pPr indent="-31496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（環境変数注入に依存しない）。files.upload には</a:t>
            </a:r>
            <a:endParaRPr/>
          </a:p>
          <a:p>
            <a:pPr indent="-31496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BytesIO を渡す。起動時のスキーマ初期化は例外で</a:t>
            </a:r>
            <a:endParaRPr/>
          </a:p>
          <a:p>
            <a:pPr indent="-31496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クラッシュさせない。ローカル実行前にデプロイし、</a:t>
            </a:r>
            <a:endParaRPr/>
          </a:p>
          <a:p>
            <a:pPr indent="-31496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SP がスキーマを所有するようにする。」</a:t>
            </a:r>
            <a:endParaRPr/>
          </a:p>
        </p:txBody>
      </p:sp>
      <p:sp>
        <p:nvSpPr>
          <p:cNvPr id="413" name="Google Shape;413;p11"/>
          <p:cNvSpPr txBox="1"/>
          <p:nvPr>
            <p:ph idx="2" type="body"/>
          </p:nvPr>
        </p:nvSpPr>
        <p:spPr>
          <a:xfrm>
            <a:off x="6916611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27025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66667"/>
              <a:buChar char="•"/>
            </a:pPr>
            <a:r>
              <a:rPr lang="en" sz="1200"/>
              <a:t>「Lakebaseのdrawingsテーブルに対して、部品番号・</a:t>
            </a:r>
            <a:endParaRPr/>
          </a:p>
          <a:p>
            <a:pPr indent="-30734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材質・寸法範囲で図面を検索できるエンドポイントを</a:t>
            </a:r>
            <a:endParaRPr/>
          </a:p>
          <a:p>
            <a:pPr indent="-30734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追加してください。」</a:t>
            </a:r>
            <a:endParaRPr/>
          </a:p>
          <a:p>
            <a:pPr indent="-327025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66667"/>
              <a:buChar char="•"/>
            </a:pPr>
            <a:r>
              <a:rPr lang="en" sz="1200"/>
              <a:t>• 図面から部品表(BOM)を ai_query で抽出し、寸法</a:t>
            </a:r>
            <a:endParaRPr/>
          </a:p>
          <a:p>
            <a:pPr indent="-30734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(長さ・幅・高さ)を数値カラムに保存する parts</a:t>
            </a:r>
            <a:endParaRPr/>
          </a:p>
          <a:p>
            <a:pPr indent="-30734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テーブルを追加。</a:t>
            </a:r>
            <a:endParaRPr/>
          </a:p>
          <a:p>
            <a:pPr indent="-327025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66667"/>
              <a:buChar char="•"/>
            </a:pPr>
            <a:r>
              <a:rPr lang="en" sz="1200"/>
              <a:t>• ai_query は batch inference 対応モデル</a:t>
            </a:r>
            <a:endParaRPr/>
          </a:p>
          <a:p>
            <a:pPr indent="-30734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(databricks-claude-haiku-4-5)。JSON出力の</a:t>
            </a:r>
            <a:endParaRPr/>
          </a:p>
          <a:p>
            <a:pPr indent="-30734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```フェンスは除去する。</a:t>
            </a:r>
            <a:endParaRPr/>
          </a:p>
          <a:p>
            <a:pPr indent="-327025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66667"/>
              <a:buChar char="•"/>
            </a:pPr>
            <a:r>
              <a:rPr lang="en" sz="1200"/>
              <a:t>• GET /api/parts/search で 部品番号(部分一致)・</a:t>
            </a:r>
            <a:endParaRPr/>
          </a:p>
          <a:p>
            <a:pPr indent="-30734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材質・寸法範囲(BETWEEN)で検索。寸法範囲は各部品の</a:t>
            </a:r>
            <a:endParaRPr/>
          </a:p>
          <a:p>
            <a:pPr indent="-30734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33333"/>
              <a:buChar char="•"/>
            </a:pPr>
            <a:r>
              <a:rPr lang="en" sz="1200"/>
              <a:t>  最大寸法に適用。フロントに検索UIを追加。</a:t>
            </a:r>
            <a:endParaRPr/>
          </a:p>
          <a:p>
            <a:pPr indent="-327025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66667"/>
              <a:buChar char="•"/>
            </a:pPr>
            <a:r>
              <a:rPr lang="en" sz="1200"/>
              <a:t>💡 事前にハマりどころを指示に含めるとワンショットで完成</a:t>
            </a:r>
            <a:endParaRPr/>
          </a:p>
        </p:txBody>
      </p:sp>
      <p:sp>
        <p:nvSpPr>
          <p:cNvPr id="414" name="Google Shape;414;p11"/>
          <p:cNvSpPr txBox="1"/>
          <p:nvPr>
            <p:ph idx="3" type="subTitle"/>
          </p:nvPr>
        </p:nvSpPr>
        <p:spPr>
          <a:xfrm>
            <a:off x="795830" y="1970333"/>
            <a:ext cx="4484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Step 1: アプリ本体</a:t>
            </a:r>
            <a:endParaRPr/>
          </a:p>
        </p:txBody>
      </p:sp>
      <p:sp>
        <p:nvSpPr>
          <p:cNvPr id="415" name="Google Shape;415;p11"/>
          <p:cNvSpPr txBox="1"/>
          <p:nvPr>
            <p:ph idx="4" type="subTitle"/>
          </p:nvPr>
        </p:nvSpPr>
        <p:spPr>
          <a:xfrm>
            <a:off x="6933707" y="1970333"/>
            <a:ext cx="4485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Step 2: 検索エンドポイント</a:t>
            </a:r>
            <a:endParaRPr/>
          </a:p>
        </p:txBody>
      </p:sp>
      <p:sp>
        <p:nvSpPr>
          <p:cNvPr id="416" name="Google Shape;416;p11"/>
          <p:cNvSpPr txBox="1"/>
          <p:nvPr>
            <p:ph idx="5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t/>
            </a:r>
            <a:endParaRPr>
              <a:solidFill>
                <a:srgbClr val="FF362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2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Agent Skillsの効果（あり vs なし）</a:t>
            </a:r>
            <a:endParaRPr/>
          </a:p>
        </p:txBody>
      </p:sp>
      <p:sp>
        <p:nvSpPr>
          <p:cNvPr id="422" name="Google Shape;422;p12"/>
          <p:cNvSpPr txBox="1"/>
          <p:nvPr>
            <p:ph idx="1" type="body"/>
          </p:nvPr>
        </p:nvSpPr>
        <p:spPr>
          <a:xfrm>
            <a:off x="761825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500"/>
              <a:t>ai_parse_document → 正しい構文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500"/>
              <a:t>Lakebase接続 → databricks_auth ext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500"/>
              <a:t>Apps deploy → databricks apps deploy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500"/>
              <a:t>Volume操作 → /Volumes/catalog/...</a:t>
            </a:r>
            <a:endParaRPr/>
          </a:p>
        </p:txBody>
      </p:sp>
      <p:sp>
        <p:nvSpPr>
          <p:cNvPr id="423" name="Google Shape;423;p12"/>
          <p:cNvSpPr txBox="1"/>
          <p:nvPr>
            <p:ph idx="2" type="body"/>
          </p:nvPr>
        </p:nvSpPr>
        <p:spPr>
          <a:xfrm>
            <a:off x="6916611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500"/>
              <a:t>ai_parse_document → 古いAPI/誤り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500"/>
              <a:t>Lakebase接続 → psycopg2直接→エラー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500"/>
              <a:t>Apps deploy → Docker/Heroku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500"/>
              <a:t>Volume操作 → ローカルpath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500"/>
              <a:t>💡 Advancedユーザーにもベストプラクティス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500"/>
              <a:t>   自動適用の価値あり</a:t>
            </a:r>
            <a:endParaRPr/>
          </a:p>
        </p:txBody>
      </p:sp>
      <p:sp>
        <p:nvSpPr>
          <p:cNvPr id="424" name="Google Shape;424;p12"/>
          <p:cNvSpPr txBox="1"/>
          <p:nvPr>
            <p:ph idx="3" type="subTitle"/>
          </p:nvPr>
        </p:nvSpPr>
        <p:spPr>
          <a:xfrm>
            <a:off x="795830" y="1970333"/>
            <a:ext cx="4484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Skills あり ✅</a:t>
            </a:r>
            <a:endParaRPr/>
          </a:p>
        </p:txBody>
      </p:sp>
      <p:sp>
        <p:nvSpPr>
          <p:cNvPr id="425" name="Google Shape;425;p12"/>
          <p:cNvSpPr txBox="1"/>
          <p:nvPr>
            <p:ph idx="4" type="subTitle"/>
          </p:nvPr>
        </p:nvSpPr>
        <p:spPr>
          <a:xfrm>
            <a:off x="6933707" y="1970333"/>
            <a:ext cx="4485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Skills なし ❌</a:t>
            </a:r>
            <a:endParaRPr/>
          </a:p>
        </p:txBody>
      </p:sp>
      <p:sp>
        <p:nvSpPr>
          <p:cNvPr id="426" name="Google Shape;426;p12"/>
          <p:cNvSpPr txBox="1"/>
          <p:nvPr>
            <p:ph idx="5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t/>
            </a:r>
            <a:endParaRPr>
              <a:solidFill>
                <a:srgbClr val="FF362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3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マイグレーション案内</a:t>
            </a:r>
            <a:endParaRPr/>
          </a:p>
        </p:txBody>
      </p:sp>
      <p:sp>
        <p:nvSpPr>
          <p:cNvPr id="432" name="Google Shape;432;p13"/>
          <p:cNvSpPr txBox="1"/>
          <p:nvPr>
            <p:ph idx="1" type="body"/>
          </p:nvPr>
        </p:nvSpPr>
        <p:spPr>
          <a:xfrm>
            <a:off x="761825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600"/>
              <a:t>1. ai_dev_kit をアンインストール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600"/>
              <a:t>2. databricks aitools install で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   クリーンインストール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600"/>
              <a:t>3. --experimental で旧スキルも利用可能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600"/>
              <a:t>※ 今後アップグレードパスも提供予定</a:t>
            </a:r>
            <a:endParaRPr/>
          </a:p>
        </p:txBody>
      </p:sp>
      <p:sp>
        <p:nvSpPr>
          <p:cNvPr id="433" name="Google Shape;433;p13"/>
          <p:cNvSpPr txBox="1"/>
          <p:nvPr>
            <p:ph idx="2" type="body"/>
          </p:nvPr>
        </p:nvSpPr>
        <p:spPr>
          <a:xfrm>
            <a:off x="6916611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600"/>
              <a:t>✅  Skills内容は同じ（移行済み）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600"/>
              <a:t>✅  学んだ知識は無効にならない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600"/>
              <a:t>✅  管理方法が変わるだけ</a:t>
            </a:r>
            <a:endParaRPr/>
          </a:p>
        </p:txBody>
      </p:sp>
      <p:sp>
        <p:nvSpPr>
          <p:cNvPr id="434" name="Google Shape;434;p13"/>
          <p:cNvSpPr txBox="1"/>
          <p:nvPr>
            <p:ph idx="3" type="subTitle"/>
          </p:nvPr>
        </p:nvSpPr>
        <p:spPr>
          <a:xfrm>
            <a:off x="795830" y="1970333"/>
            <a:ext cx="4484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推奨アクション</a:t>
            </a:r>
            <a:endParaRPr/>
          </a:p>
        </p:txBody>
      </p:sp>
      <p:sp>
        <p:nvSpPr>
          <p:cNvPr id="435" name="Google Shape;435;p13"/>
          <p:cNvSpPr txBox="1"/>
          <p:nvPr>
            <p:ph idx="4" type="subTitle"/>
          </p:nvPr>
        </p:nvSpPr>
        <p:spPr>
          <a:xfrm>
            <a:off x="6933707" y="1970333"/>
            <a:ext cx="4485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ご安心ください</a:t>
            </a:r>
            <a:endParaRPr/>
          </a:p>
        </p:txBody>
      </p:sp>
      <p:sp>
        <p:nvSpPr>
          <p:cNvPr id="436" name="Google Shape;436;p13"/>
          <p:cNvSpPr txBox="1"/>
          <p:nvPr>
            <p:ph idx="5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t/>
            </a:r>
            <a:endParaRPr>
              <a:solidFill>
                <a:srgbClr val="FF362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4"/>
          <p:cNvSpPr txBox="1"/>
          <p:nvPr>
            <p:ph type="title"/>
          </p:nvPr>
        </p:nvSpPr>
        <p:spPr>
          <a:xfrm>
            <a:off x="749261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まとめ &amp; 上級者向け参考情報</a:t>
            </a:r>
            <a:endParaRPr/>
          </a:p>
        </p:txBody>
      </p:sp>
      <p:sp>
        <p:nvSpPr>
          <p:cNvPr id="442" name="Google Shape;442;p14"/>
          <p:cNvSpPr txBox="1"/>
          <p:nvPr>
            <p:ph idx="1" type="body"/>
          </p:nvPr>
        </p:nvSpPr>
        <p:spPr>
          <a:xfrm>
            <a:off x="761825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300"/>
              <a:t>✅ databricks aitools install が公式推奨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300"/>
              <a:t>✅ ベストプラクティス自動適用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300"/>
              <a:t>✅ 28 Stableスキル利用可能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300"/>
              <a:t>✅ ai_dev_kitからの移行も簡単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300"/>
              <a:t>📖 github.com/databricks/databricks-agent-skills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300"/>
              <a:t>📖 docs.databricks.com/aws/en/agent-skills</a:t>
            </a:r>
            <a:endParaRPr/>
          </a:p>
        </p:txBody>
      </p:sp>
      <p:sp>
        <p:nvSpPr>
          <p:cNvPr id="443" name="Google Shape;443;p14"/>
          <p:cNvSpPr txBox="1"/>
          <p:nvPr>
            <p:ph idx="2" type="body"/>
          </p:nvPr>
        </p:nvSpPr>
        <p:spPr>
          <a:xfrm>
            <a:off x="6916611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300"/>
              <a:t>Claude Code: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300"/>
              <a:t>  /plugin marketplace add databricks/...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300"/>
              <a:t>  /plugin install databricks@...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300"/>
              <a:t>Cursor: /add-plugin databricks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300"/>
              <a:t>メリット: /databricks:setup, :doctor,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" sz="1300"/>
              <a:t>  Prompt Router, Context Primer, Auth Hint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" sz="1300"/>
              <a:t>ぜひ試してみてください！</a:t>
            </a:r>
            <a:endParaRPr/>
          </a:p>
        </p:txBody>
      </p:sp>
      <p:sp>
        <p:nvSpPr>
          <p:cNvPr id="444" name="Google Shape;444;p14"/>
          <p:cNvSpPr txBox="1"/>
          <p:nvPr>
            <p:ph idx="3" type="subTitle"/>
          </p:nvPr>
        </p:nvSpPr>
        <p:spPr>
          <a:xfrm>
            <a:off x="795830" y="1970333"/>
            <a:ext cx="4484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まとめ</a:t>
            </a:r>
            <a:endParaRPr/>
          </a:p>
        </p:txBody>
      </p:sp>
      <p:sp>
        <p:nvSpPr>
          <p:cNvPr id="445" name="Google Shape;445;p14"/>
          <p:cNvSpPr txBox="1"/>
          <p:nvPr>
            <p:ph idx="4" type="subTitle"/>
          </p:nvPr>
        </p:nvSpPr>
        <p:spPr>
          <a:xfrm>
            <a:off x="6933707" y="1970333"/>
            <a:ext cx="4485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/>
              <a:t>💡 上級者向け: Plugin方式</a:t>
            </a:r>
            <a:endParaRPr/>
          </a:p>
        </p:txBody>
      </p:sp>
      <p:sp>
        <p:nvSpPr>
          <p:cNvPr id="446" name="Google Shape;446;p14"/>
          <p:cNvSpPr txBox="1"/>
          <p:nvPr>
            <p:ph idx="5" type="body"/>
          </p:nvPr>
        </p:nvSpPr>
        <p:spPr>
          <a:xfrm>
            <a:off x="748492" y="1174703"/>
            <a:ext cx="106593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3621"/>
              </a:buClr>
              <a:buSzPts val="2400"/>
              <a:buNone/>
            </a:pPr>
            <a:r>
              <a:t/>
            </a:r>
            <a:endParaRPr>
              <a:solidFill>
                <a:srgbClr val="FF362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bricks Theme: Light">
  <a:themeElements>
    <a:clrScheme name="Office">
      <a:dk1>
        <a:srgbClr val="0B2026"/>
      </a:dk1>
      <a:lt1>
        <a:srgbClr val="F9F7F4"/>
      </a:lt1>
      <a:dk2>
        <a:srgbClr val="FF5F46"/>
      </a:dk2>
      <a:lt2>
        <a:srgbClr val="EEEDE9"/>
      </a:lt2>
      <a:accent1>
        <a:srgbClr val="1B5162"/>
      </a:accent1>
      <a:accent2>
        <a:srgbClr val="00A972"/>
      </a:accent2>
      <a:accent3>
        <a:srgbClr val="98102A"/>
      </a:accent3>
      <a:accent4>
        <a:srgbClr val="FFAB00"/>
      </a:accent4>
      <a:accent5>
        <a:srgbClr val="618794"/>
      </a:accent5>
      <a:accent6>
        <a:srgbClr val="4299E0"/>
      </a:accent6>
      <a:hlink>
        <a:srgbClr val="FF362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