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400"/>
              <a:t>販売1,000台あたりの受付率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2025年7月</c:v>
                </c:pt>
              </c:strCache>
            </c:strRef>
          </c:tx>
          <c:cat>
            <c:strRef>
              <c:f>Sheet1!$A$2:$A$11</c:f>
              <c:strCache>
                <c:ptCount val="10"/>
                <c:pt idx="0">
                  <c:v>RC-500</c:v>
                </c:pt>
                <c:pt idx="1">
                  <c:v>RC-550</c:v>
                </c:pt>
                <c:pt idx="2">
                  <c:v>KT-200</c:v>
                </c:pt>
                <c:pt idx="3">
                  <c:v>MW-300</c:v>
                </c:pt>
                <c:pt idx="4">
                  <c:v>VC-700</c:v>
                </c:pt>
                <c:pt idx="5">
                  <c:v>AP-400</c:v>
                </c:pt>
                <c:pt idx="6">
                  <c:v>FN-210</c:v>
                </c:pt>
                <c:pt idx="7">
                  <c:v>HT-310</c:v>
                </c:pt>
                <c:pt idx="8">
                  <c:v>HM-220</c:v>
                </c:pt>
                <c:pt idx="9">
                  <c:v>TS-150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9.4</c:v>
                </c:pt>
                <c:pt idx="1">
                  <c:v>11.6</c:v>
                </c:pt>
                <c:pt idx="2">
                  <c:v>6.7</c:v>
                </c:pt>
                <c:pt idx="3">
                  <c:v>9.6</c:v>
                </c:pt>
                <c:pt idx="4">
                  <c:v>25.6</c:v>
                </c:pt>
                <c:pt idx="5">
                  <c:v>10.3</c:v>
                </c:pt>
                <c:pt idx="6">
                  <c:v>9.3</c:v>
                </c:pt>
                <c:pt idx="7">
                  <c:v>6.6</c:v>
                </c:pt>
                <c:pt idx="8">
                  <c:v>9.8</c:v>
                </c:pt>
                <c:pt idx="9">
                  <c:v>5.5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2025年6月</c:v>
                </c:pt>
              </c:strCache>
            </c:strRef>
          </c:tx>
          <c:cat>
            <c:strRef>
              <c:f>Sheet1!$A$2:$A$11</c:f>
              <c:strCache>
                <c:ptCount val="10"/>
                <c:pt idx="0">
                  <c:v>RC-500</c:v>
                </c:pt>
                <c:pt idx="1">
                  <c:v>RC-550</c:v>
                </c:pt>
                <c:pt idx="2">
                  <c:v>KT-200</c:v>
                </c:pt>
                <c:pt idx="3">
                  <c:v>MW-300</c:v>
                </c:pt>
                <c:pt idx="4">
                  <c:v>VC-700</c:v>
                </c:pt>
                <c:pt idx="5">
                  <c:v>AP-400</c:v>
                </c:pt>
                <c:pt idx="6">
                  <c:v>FN-210</c:v>
                </c:pt>
                <c:pt idx="7">
                  <c:v>HT-310</c:v>
                </c:pt>
                <c:pt idx="8">
                  <c:v>HM-220</c:v>
                </c:pt>
                <c:pt idx="9">
                  <c:v>TS-150</c:v>
                </c:pt>
              </c:strCache>
            </c: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8.5</c:v>
                </c:pt>
                <c:pt idx="1">
                  <c:v>9.2</c:v>
                </c:pt>
                <c:pt idx="2">
                  <c:v>6.2</c:v>
                </c:pt>
                <c:pt idx="3">
                  <c:v>9.2</c:v>
                </c:pt>
                <c:pt idx="4">
                  <c:v>26.7</c:v>
                </c:pt>
                <c:pt idx="5">
                  <c:v>9.9</c:v>
                </c:pt>
                <c:pt idx="6">
                  <c:v>8.6</c:v>
                </c:pt>
                <c:pt idx="7">
                  <c:v>13.4</c:v>
                </c:pt>
                <c:pt idx="8">
                  <c:v>10.0</c:v>
                </c:pt>
                <c:pt idx="9">
                  <c:v>5.0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sz="10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legend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品質会議 資料（2025年7月度）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108960"/>
            <a:ext cx="10515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DDE4EE"/>
                </a:solidFill>
                <a:latin typeface="Meiryo"/>
                <a:ea typeface="Meiryo"/>
                <a:cs typeface="Meiryo"/>
              </a:rPr>
              <a:t>ブリックス電機株式会社　品質保証部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DDE4EE"/>
                </a:solidFill>
                <a:latin typeface="Meiryo"/>
                <a:ea typeface="Meiryo"/>
                <a:cs typeface="Meiryo"/>
              </a:rPr>
              <a:t>開催日: 2025年8月5日（火）　対象期間: 2025年7月1日〜31日の修理受付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DDE4EE"/>
                </a:solidFill>
                <a:latin typeface="Meiryo"/>
                <a:ea typeface="Meiryo"/>
                <a:cs typeface="Meiryo"/>
              </a:rPr>
              <a:t>出席: 品質保証部、技術部、製造部（新潟・タイ・蘇州）、サービス部、コールセンター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0350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社外秘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/>
          <a:lstStyle/>
          <a:p>
            <a:pPr algn="ctr"/>
            <a:r>
              <a:rPr sz="24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本日の議題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3920" y="6446520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777777"/>
                </a:solidFill>
                <a:latin typeface="Meiryo"/>
                <a:ea typeface="Meiryo"/>
                <a:cs typeface="Meiryo"/>
              </a:rPr>
              <a:t>品質会議 2025年7月度　社外秘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000" b="0">
                <a:solidFill>
                  <a:srgbClr val="333333"/>
                </a:solidFill>
                <a:latin typeface="Meiryo"/>
                <a:ea typeface="Meiryo"/>
                <a:cs typeface="Meiryo"/>
              </a:rPr>
              <a:t>1. 修理受付の概況（型番別の受付件数と、販売1,000台あたりの受付率）</a:t>
            </a:r>
          </a:p>
          <a:p>
            <a:pPr>
              <a:spcAft>
                <a:spcPts val="600"/>
              </a:spcAft>
            </a:pPr>
            <a:r>
              <a:rPr sz="2000" b="0">
                <a:solidFill>
                  <a:srgbClr val="333333"/>
                </a:solidFill>
                <a:latin typeface="Meiryo"/>
                <a:ea typeface="Meiryo"/>
                <a:cs typeface="Meiryo"/>
              </a:rPr>
              <a:t>2. 症状の内訳（受付件数の多い型番×症状）</a:t>
            </a:r>
          </a:p>
          <a:p>
            <a:pPr>
              <a:spcAft>
                <a:spcPts val="600"/>
              </a:spcAft>
            </a:pPr>
            <a:r>
              <a:rPr sz="2000" b="0">
                <a:solidFill>
                  <a:srgbClr val="333333"/>
                </a:solidFill>
                <a:latin typeface="Meiryo"/>
                <a:ea typeface="Meiryo"/>
                <a:cs typeface="Meiryo"/>
              </a:rPr>
              <a:t>3. 対応結果と費用（修理・交換・修理不要・異常なし）</a:t>
            </a:r>
          </a:p>
          <a:p>
            <a:pPr>
              <a:spcAft>
                <a:spcPts val="600"/>
              </a:spcAft>
            </a:pPr>
            <a:r>
              <a:rPr sz="2000" b="0">
                <a:solidFill>
                  <a:srgbClr val="333333"/>
                </a:solidFill>
                <a:latin typeface="Meiryo"/>
                <a:ea typeface="Meiryo"/>
                <a:cs typeface="Meiryo"/>
              </a:rPr>
              <a:t>4. 部品・工程の変更（変更点管理）</a:t>
            </a:r>
          </a:p>
          <a:p>
            <a:pPr>
              <a:spcAft>
                <a:spcPts val="600"/>
              </a:spcAft>
            </a:pPr>
            <a:r>
              <a:rPr sz="2000" b="0">
                <a:solidFill>
                  <a:srgbClr val="333333"/>
                </a:solidFill>
                <a:latin typeface="Meiryo"/>
                <a:ea typeface="Meiryo"/>
                <a:cs typeface="Meiryo"/>
              </a:rPr>
              <a:t>5. 対策の進捗</a:t>
            </a:r>
          </a:p>
          <a:p>
            <a:pPr>
              <a:spcAft>
                <a:spcPts val="600"/>
              </a:spcAft>
            </a:pPr>
            <a:r>
              <a:rPr sz="2000" b="0">
                <a:solidFill>
                  <a:srgbClr val="333333"/>
                </a:solidFill>
                <a:latin typeface="Meiryo"/>
                <a:ea typeface="Meiryo"/>
                <a:cs typeface="Meiryo"/>
              </a:rPr>
              <a:t>6. 決定事項と次回までの宿題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/>
          <a:lstStyle/>
          <a:p>
            <a:pPr algn="ctr"/>
            <a:r>
              <a:rPr sz="24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1. 修理受付の概況（2025年7月）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3920" y="6446520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777777"/>
                </a:solidFill>
                <a:latin typeface="Meiryo"/>
                <a:ea typeface="Meiryo"/>
                <a:cs typeface="Meiryo"/>
              </a:rPr>
              <a:t>品質会議 2025年7月度　社外秘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051560"/>
          <a:ext cx="7498080" cy="46085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960"/>
                <a:gridCol w="1737360"/>
                <a:gridCol w="914400"/>
                <a:gridCol w="777240"/>
                <a:gridCol w="960120"/>
                <a:gridCol w="1143000"/>
                <a:gridCol w="1143000"/>
              </a:tblGrid>
              <a:tr h="384048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型番</a:t>
                      </a:r>
                    </a:p>
                  </a:txBody>
                  <a:tcPr marL="54864" marR="54864" marT="27432" marB="27432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製品</a:t>
                      </a:r>
                    </a:p>
                  </a:txBody>
                  <a:tcPr marL="54864" marR="54864" marT="27432" marB="27432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受付件数</a:t>
                      </a:r>
                    </a:p>
                  </a:txBody>
                  <a:tcPr marL="54864" marR="54864" marT="27432" marB="27432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前月比</a:t>
                      </a:r>
                    </a:p>
                  </a:txBody>
                  <a:tcPr marL="54864" marR="54864" marT="27432" marB="27432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販売台数</a:t>
                      </a:r>
                    </a:p>
                  </a:txBody>
                  <a:tcPr marL="54864" marR="54864" marT="27432" marB="27432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販売1,000台あたり</a:t>
                      </a:r>
                    </a:p>
                  </a:txBody>
                  <a:tcPr marL="54864" marR="54864" marT="27432" marB="27432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前年同月（1,000台あたり）</a:t>
                      </a:r>
                    </a:p>
                  </a:txBody>
                  <a:tcPr marL="54864" marR="54864" marT="27432" marB="27432">
                    <a:solidFill>
                      <a:srgbClr val="1F3A5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RC-500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IH炊飯器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86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+12%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9,126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9.4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—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RC-550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圧力IH炊飯器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45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+25%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3,887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11.6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—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KT-200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電気ケトル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71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+9%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10,529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6.7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—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MW-300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電子レンジ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66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+2%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6,890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9.6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—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VC-700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コードレス掃除機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206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-5%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8,032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25.6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—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AP-400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空気清浄機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40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-23%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3,866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10.3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—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FN-210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リビング扇風機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174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+27%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18,673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9.3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—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HT-310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セラミックファンヒーター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1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-50%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152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6.6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—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HM-220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スチーム式加湿器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1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+0%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102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9.8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—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TS-150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オーブントースター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33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+6%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6,027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5.5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—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合計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/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723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+6%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67,284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10.7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—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092440" y="105156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1F3A5F"/>
                </a:solidFill>
                <a:latin typeface="Meiryo"/>
                <a:ea typeface="Meiryo"/>
                <a:cs typeface="Meiryo"/>
              </a:rPr>
              <a:t>今月のポイント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92440" y="1508760"/>
            <a:ext cx="3840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333333"/>
                </a:solidFill>
                <a:latin typeface="Meiryo"/>
                <a:ea typeface="Meiryo"/>
                <a:cs typeface="Meiryo"/>
              </a:rPr>
              <a:t>・VC-700 の受付率は 25.6 で高止まり。無償交換の進捗は計画どおり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333333"/>
                </a:solidFill>
                <a:latin typeface="Meiryo"/>
                <a:ea typeface="Meiryo"/>
                <a:cs typeface="Meiryo"/>
              </a:rPr>
              <a:t>・FN-210 のピーク（174件）。受付率は 9.3 で平常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17220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00" b="0">
                <a:solidFill>
                  <a:srgbClr val="777777"/>
                </a:solidFill>
                <a:latin typeface="Meiryo"/>
                <a:ea typeface="Meiryo"/>
                <a:cs typeface="Meiryo"/>
              </a:rPr>
              <a:t>受付率 ＝ その月の受付件数 ÷ その月の販売台数（全国計）× 1,000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/>
          <a:lstStyle/>
          <a:p>
            <a:pPr algn="ctr"/>
            <a:r>
              <a:rPr sz="24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1. 修理受付の概況: 販売1,000台あたりの受付率（型番別）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3920" y="6446520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777777"/>
                </a:solidFill>
                <a:latin typeface="Meiryo"/>
                <a:ea typeface="Meiryo"/>
                <a:cs typeface="Meiryo"/>
              </a:rPr>
              <a:t>品質会議 2025年7月度　社外秘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457200" y="1097280"/>
          <a:ext cx="11247120" cy="51206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/>
          <a:lstStyle/>
          <a:p>
            <a:pPr algn="ctr"/>
            <a:r>
              <a:rPr sz="24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2. 症状の内訳（受付件数の多い型番×症状 上位8件）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3920" y="6446520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777777"/>
                </a:solidFill>
                <a:latin typeface="Meiryo"/>
                <a:ea typeface="Meiryo"/>
                <a:cs typeface="Meiryo"/>
              </a:rPr>
              <a:t>品質会議 2025年7月度　社外秘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188720"/>
          <a:ext cx="768096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1828800"/>
                <a:gridCol w="1280160"/>
                <a:gridCol w="1280160"/>
                <a:gridCol w="2103120"/>
              </a:tblGrid>
              <a:tr h="4572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型番</a:t>
                      </a:r>
                    </a:p>
                  </a:txBody>
                  <a:tcPr marL="54864" marR="54864" marT="27432" marB="27432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症状</a:t>
                      </a:r>
                    </a:p>
                  </a:txBody>
                  <a:tcPr marL="54864" marR="54864" marT="27432" marB="27432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受付件数</a:t>
                      </a:r>
                    </a:p>
                  </a:txBody>
                  <a:tcPr marL="54864" marR="54864" marT="27432" marB="27432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前月</a:t>
                      </a:r>
                    </a:p>
                  </a:txBody>
                  <a:tcPr marL="54864" marR="54864" marT="27432" marB="27432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うち修理不要・異常なし</a:t>
                      </a:r>
                    </a:p>
                  </a:txBody>
                  <a:tcPr marL="54864" marR="54864" marT="27432" marB="27432">
                    <a:solidFill>
                      <a:srgbClr val="1F3A5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VC-700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性能低下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65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57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14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VC-700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途中で止まる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54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45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6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FN-210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異音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53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43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15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VC-700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電源が入らない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51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67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2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FN-210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途中で止まる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37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21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24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FN-210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破損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29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21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1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FN-210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性能低下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22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17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11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FN-210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電源が入らない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19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23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3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503920" y="1188720"/>
            <a:ext cx="3474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333333"/>
                </a:solidFill>
                <a:latin typeface="Meiryo"/>
                <a:ea typeface="Meiryo"/>
                <a:cs typeface="Meiryo"/>
              </a:rPr>
              <a:t>・型番×症状の受付件数は、販売台数の多い製品ほど大きくなる。製品どうしの比較は前のページの受付率で行う。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/>
          <a:lstStyle/>
          <a:p>
            <a:pPr algn="ctr"/>
            <a:r>
              <a:rPr sz="24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3. 対応結果と費用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3920" y="6446520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777777"/>
                </a:solidFill>
                <a:latin typeface="Meiryo"/>
                <a:ea typeface="Meiryo"/>
                <a:cs typeface="Meiryo"/>
              </a:rPr>
              <a:t>品質会議 2025年7月度　社外秘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188720"/>
          <a:ext cx="6949440" cy="3520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463040"/>
                <a:gridCol w="1463040"/>
                <a:gridCol w="2194560"/>
              </a:tblGrid>
              <a:tr h="50292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対応結果</a:t>
                      </a:r>
                    </a:p>
                  </a:txBody>
                  <a:tcPr marL="54864" marR="54864" marT="27432" marB="27432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件数</a:t>
                      </a:r>
                    </a:p>
                  </a:txBody>
                  <a:tcPr marL="54864" marR="54864" marT="27432" marB="27432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構成比</a:t>
                      </a:r>
                    </a:p>
                  </a:txBody>
                  <a:tcPr marL="54864" marR="54864" marT="27432" marB="27432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当社負担の費用</a:t>
                      </a:r>
                    </a:p>
                  </a:txBody>
                  <a:tcPr marL="54864" marR="54864" marT="27432" marB="27432">
                    <a:solidFill>
                      <a:srgbClr val="1F3A5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持込修理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393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54.4%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331万円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出張修理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11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1.5%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14万円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製品交換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59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8.2%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54万円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修理不要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161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22.3%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0万円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異常なし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99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13.7%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35万円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合計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723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100%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435万円</a:t>
                      </a:r>
                    </a:p>
                  </a:txBody>
                  <a:tcPr marL="54864" marR="54864" marT="27432" marB="27432">
                    <a:solidFill>
                      <a:srgbClr val="E6EBF2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863840" y="1188720"/>
            <a:ext cx="4114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0">
                <a:solidFill>
                  <a:srgbClr val="333333"/>
                </a:solidFill>
                <a:latin typeface="Meiryo"/>
                <a:ea typeface="Meiryo"/>
                <a:cs typeface="Meiryo"/>
              </a:rPr>
              <a:t>・持込修理: 引き取りで修理した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333333"/>
                </a:solidFill>
                <a:latin typeface="Meiryo"/>
                <a:ea typeface="Meiryo"/>
                <a:cs typeface="Meiryo"/>
              </a:rPr>
              <a:t>・出張修理: 訪問して修理した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333333"/>
                </a:solidFill>
                <a:latin typeface="Meiryo"/>
                <a:ea typeface="Meiryo"/>
                <a:cs typeface="Meiryo"/>
              </a:rPr>
              <a:t>・製品交換: 初期不良などで新品と交換した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333333"/>
                </a:solidFill>
                <a:latin typeface="Meiryo"/>
                <a:ea typeface="Meiryo"/>
                <a:cs typeface="Meiryo"/>
              </a:rPr>
              <a:t>・修理不要: 電話・メールで使いかたやお手入れを案内して解決した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333333"/>
                </a:solidFill>
                <a:latin typeface="Meiryo"/>
                <a:ea typeface="Meiryo"/>
                <a:cs typeface="Meiryo"/>
              </a:rPr>
              <a:t>・異常なし: 修理を手配したが、点検の結果、故障ではなかった（保証期間内は送料・点検料を当社が負担）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333333"/>
                </a:solidFill>
                <a:latin typeface="Meiryo"/>
                <a:ea typeface="Meiryo"/>
                <a:cs typeface="Meiryo"/>
              </a:rPr>
              <a:t>・保証期間外の受付: 7%（修理代金はお客様負担）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/>
          <a:lstStyle/>
          <a:p>
            <a:pPr algn="ctr"/>
            <a:r>
              <a:rPr sz="24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4. 部品・工程の変更（変更点管理）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3920" y="6446520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777777"/>
                </a:solidFill>
                <a:latin typeface="Meiryo"/>
                <a:ea typeface="Meiryo"/>
                <a:cs typeface="Meiryo"/>
              </a:rPr>
              <a:t>品質会議 2025年7月度　社外秘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188720"/>
          <a:ext cx="1143000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1005840"/>
                <a:gridCol w="3840480"/>
                <a:gridCol w="1920240"/>
                <a:gridCol w="2011680"/>
                <a:gridCol w="1737360"/>
              </a:tblGrid>
              <a:tr h="54864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型番</a:t>
                      </a:r>
                    </a:p>
                  </a:txBody>
                  <a:tcPr marL="54864" marR="54864" marT="27432" marB="27432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工場</a:t>
                      </a:r>
                    </a:p>
                  </a:txBody>
                  <a:tcPr marL="54864" marR="54864" marT="27432" marB="27432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変更の内容</a:t>
                      </a:r>
                    </a:p>
                  </a:txBody>
                  <a:tcPr marL="54864" marR="54864" marT="27432" marB="27432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適用</a:t>
                      </a:r>
                    </a:p>
                  </a:txBody>
                  <a:tcPr marL="54864" marR="54864" marT="27432" marB="27432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理由</a:t>
                      </a:r>
                    </a:p>
                  </a:txBody>
                  <a:tcPr marL="54864" marR="54864" marT="27432" marB="27432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評価</a:t>
                      </a:r>
                    </a:p>
                  </a:txBody>
                  <a:tcPr marL="54864" marR="54864" marT="27432" marB="27432">
                    <a:solidFill>
                      <a:srgbClr val="1F3A5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KT-200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蘇州工場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ふたのロックつまみの成形条件を変更（成形サイクルを短縮）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2025年7月製造分から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生産性の向上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外観・寸法検査 合格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65760" y="585216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 b="0">
                <a:solidFill>
                  <a:srgbClr val="777777"/>
                </a:solidFill>
                <a:latin typeface="Meiryo"/>
                <a:ea typeface="Meiryo"/>
                <a:cs typeface="Meiryo"/>
              </a:rPr>
              <a:t>部品の調達先・材質・工程の条件を変えたときは、製造部がこの会議で報告する（変更点管理規程）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/>
          <a:lstStyle/>
          <a:p>
            <a:pPr algn="ctr"/>
            <a:r>
              <a:rPr sz="24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5. 対策の進捗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3920" y="6446520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777777"/>
                </a:solidFill>
                <a:latin typeface="Meiryo"/>
                <a:ea typeface="Meiryo"/>
                <a:cs typeface="Meiryo"/>
              </a:rPr>
              <a:t>品質会議 2025年7月度　社外秘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188720"/>
          <a:ext cx="114300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6309360"/>
                <a:gridCol w="1463040"/>
                <a:gridCol w="1097280"/>
              </a:tblGrid>
              <a:tr h="6858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案件</a:t>
                      </a:r>
                    </a:p>
                  </a:txBody>
                  <a:tcPr marL="54864" marR="54864" marT="27432" marB="27432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状況</a:t>
                      </a:r>
                    </a:p>
                  </a:txBody>
                  <a:tcPr marL="54864" marR="54864" marT="27432" marB="27432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担当</a:t>
                      </a:r>
                    </a:p>
                  </a:txBody>
                  <a:tcPr marL="54864" marR="54864" marT="27432" marB="27432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期限</a:t>
                      </a:r>
                    </a:p>
                  </a:txBody>
                  <a:tcPr marL="54864" marR="54864" marT="27432" marB="27432">
                    <a:solidFill>
                      <a:srgbClr val="1F3A5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VC-700 無償交換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実施 2,640台／対象 10,990台（実施率 24.0%）。交換費用の累計 3,136万円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サービス部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3333"/>
                          </a:solidFill>
                          <a:latin typeface="Meiryo"/>
                          <a:ea typeface="Meiryo"/>
                          <a:cs typeface="Meiryo"/>
                        </a:rPr>
                        <a:t>2026年6月末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/>
          <a:lstStyle/>
          <a:p>
            <a:pPr algn="ctr"/>
            <a:r>
              <a:rPr sz="24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6. 決定事項と次回までの宿題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3920" y="6446520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777777"/>
                </a:solidFill>
                <a:latin typeface="Meiryo"/>
                <a:ea typeface="Meiryo"/>
                <a:cs typeface="Meiryo"/>
              </a:rPr>
              <a:t>品質会議 2025年7月度　社外秘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 b="0">
                <a:solidFill>
                  <a:srgbClr val="333333"/>
                </a:solidFill>
                <a:latin typeface="Meiryo"/>
                <a:ea typeface="Meiryo"/>
                <a:cs typeface="Meiryo"/>
              </a:rPr>
              <a:t>・VC-700 の無償交換の進捗を毎月報告する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85216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1F3A5F"/>
                </a:solidFill>
                <a:latin typeface="Meiryo"/>
                <a:ea typeface="Meiryo"/>
                <a:cs typeface="Meiryo"/>
              </a:rPr>
              <a:t>次回: 2025年9月9日（火）（2025年8月度）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