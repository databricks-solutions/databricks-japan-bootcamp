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/>
              <a:t>販売1,000台あたりの受付率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2026年9月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RC-500</c:v>
                </c:pt>
                <c:pt idx="1">
                  <c:v>RC-550</c:v>
                </c:pt>
                <c:pt idx="2">
                  <c:v>KT-200</c:v>
                </c:pt>
                <c:pt idx="3">
                  <c:v>MW-300</c:v>
                </c:pt>
                <c:pt idx="4">
                  <c:v>VC-700</c:v>
                </c:pt>
                <c:pt idx="5">
                  <c:v>AP-400</c:v>
                </c:pt>
                <c:pt idx="6">
                  <c:v>FN-210</c:v>
                </c:pt>
                <c:pt idx="7">
                  <c:v>HT-310</c:v>
                </c:pt>
                <c:pt idx="8">
                  <c:v>HM-220</c:v>
                </c:pt>
                <c:pt idx="9">
                  <c:v>TS-150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34.3</c:v>
                </c:pt>
                <c:pt idx="1">
                  <c:v>10.8</c:v>
                </c:pt>
                <c:pt idx="2">
                  <c:v>5.8</c:v>
                </c:pt>
                <c:pt idx="3">
                  <c:v>8.2</c:v>
                </c:pt>
                <c:pt idx="4">
                  <c:v>12.2</c:v>
                </c:pt>
                <c:pt idx="5">
                  <c:v>11.3</c:v>
                </c:pt>
                <c:pt idx="6">
                  <c:v>9.6</c:v>
                </c:pt>
                <c:pt idx="7">
                  <c:v>9.1</c:v>
                </c:pt>
                <c:pt idx="8">
                  <c:v>9.4</c:v>
                </c:pt>
                <c:pt idx="9">
                  <c:v>5.6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2026年8月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RC-500</c:v>
                </c:pt>
                <c:pt idx="1">
                  <c:v>RC-550</c:v>
                </c:pt>
                <c:pt idx="2">
                  <c:v>KT-200</c:v>
                </c:pt>
                <c:pt idx="3">
                  <c:v>MW-300</c:v>
                </c:pt>
                <c:pt idx="4">
                  <c:v>VC-700</c:v>
                </c:pt>
                <c:pt idx="5">
                  <c:v>AP-400</c:v>
                </c:pt>
                <c:pt idx="6">
                  <c:v>FN-210</c:v>
                </c:pt>
                <c:pt idx="7">
                  <c:v>HT-310</c:v>
                </c:pt>
                <c:pt idx="8">
                  <c:v>HM-220</c:v>
                </c:pt>
                <c:pt idx="9">
                  <c:v>TS-150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29.2</c:v>
                </c:pt>
                <c:pt idx="1">
                  <c:v>11.5</c:v>
                </c:pt>
                <c:pt idx="2">
                  <c:v>6.9</c:v>
                </c:pt>
                <c:pt idx="3">
                  <c:v>9.0</c:v>
                </c:pt>
                <c:pt idx="4">
                  <c:v>11.9</c:v>
                </c:pt>
                <c:pt idx="5">
                  <c:v>11.2</c:v>
                </c:pt>
                <c:pt idx="6">
                  <c:v>8.9</c:v>
                </c:pt>
                <c:pt idx="7">
                  <c:v>14.4</c:v>
                </c:pt>
                <c:pt idx="8">
                  <c:v>12.2</c:v>
                </c:pt>
                <c:pt idx="9">
                  <c:v>5.4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品質会議 資料（2026年9月度）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DDE4EE"/>
                </a:solidFill>
                <a:latin typeface="Meiryo"/>
                <a:ea typeface="Meiryo"/>
                <a:cs typeface="Meiryo"/>
              </a:rPr>
              <a:t>ブリックス電機株式会社　品質保証部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DDE4EE"/>
                </a:solidFill>
                <a:latin typeface="Meiryo"/>
                <a:ea typeface="Meiryo"/>
                <a:cs typeface="Meiryo"/>
              </a:rPr>
              <a:t>開催日: 2026年10月6日（火）　対象期間: 2026年9月1日〜30日の修理受付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DDE4EE"/>
                </a:solidFill>
                <a:latin typeface="Meiryo"/>
                <a:ea typeface="Meiryo"/>
                <a:cs typeface="Meiryo"/>
              </a:rPr>
              <a:t>出席: 品質保証部、技術部、製造部（新潟・タイ・蘇州）、サービス部、コールセンター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社外秘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本日の議題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2026年9月度　社外秘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1. 修理受付の概況（型番別の受付件数と、販売1,000台あたりの受付率）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2. 症状の内訳（受付件数の多い型番×症状）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3. 対応結果と費用（修理・交換・修理不要・異常なし）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4. 部品・工程の変更（変更点管理）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5. 対策の進捗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6. 決定事項と次回までの宿題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1. 修理受付の概況（2026年9月）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2026年9月度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51560"/>
          <a:ext cx="7498080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737360"/>
                <a:gridCol w="914400"/>
                <a:gridCol w="777240"/>
                <a:gridCol w="960120"/>
                <a:gridCol w="1143000"/>
                <a:gridCol w="1143000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型番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製品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受付件数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前月比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販売台数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販売1,000台あたり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前年同月（1,000台あたり）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IH炊飯器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332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+16%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9,693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34.3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8.6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RC-550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圧力IH炊飯器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-7%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4,625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10.8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11.5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KT-200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電気ケトル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-1%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12,956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5.8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9.6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MW-300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電子レンジ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59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-9%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7,183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8.2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7.1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コードレス掃除機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+2%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8,661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12.2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18.3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AP-400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空気清浄機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63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+34%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5,557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11.3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10.8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FN-210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リビング扇風機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-70%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2,614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9.6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8.5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HT-310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セラミックファンヒーター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+100%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659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9.1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10.1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HM-220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スチーム式加湿器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+150%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532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9.4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12.2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TS-150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オーブントースター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36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+6%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6,386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5.6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5.8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合計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757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58,866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12.9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092440" y="10515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  <a:latin typeface="Meiryo"/>
                <a:ea typeface="Meiryo"/>
                <a:cs typeface="Meiryo"/>
              </a:rPr>
              <a:t>今月のポイント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2440" y="150876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・RC-500 の「途中で止まる」が 216件（受付率 34.3）で、増加が続いている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・全体の受付件数は 757件（前月 754件）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1722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受付率 ＝ その月の受付件数 ÷ その月の販売台数（全国計）× 1,000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1. 修理受付の概況: 販売1,000台あたりの受付率（型番別）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2026年9月度　社外秘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097280"/>
          <a:ext cx="1124712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2. 症状の内訳（受付件数の多い型番×症状 上位8件）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2026年9月度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76809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828800"/>
                <a:gridCol w="1280160"/>
                <a:gridCol w="1280160"/>
                <a:gridCol w="210312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型番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症状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受付件数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前月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うち修理不要・異常なし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途中で止まる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216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163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電源が入らない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46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39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性能低下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途中で止まる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21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17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12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KT-200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途中で止まる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AP-400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におい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17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11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14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性能低下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エラー表示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17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25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503920" y="118872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・型番×症状の受付件数は、販売台数の多い製品ほど大きくなる。製品どうしの比較は前のページの受付率で行う。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3. 対応結果と費用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2026年9月度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694944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463040"/>
                <a:gridCol w="1463040"/>
                <a:gridCol w="2194560"/>
              </a:tblGrid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対応結果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件数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構成比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当社負担の費用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持込修理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473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62.5%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314万円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出張修理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0.7%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4万円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製品交換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5.2%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55万円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修理不要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157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20.7%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0万円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異常なし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11.0%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26万円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合計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757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100%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399万円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863840" y="118872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・持込修理: 引き取りで修理した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・出張修理: 訪問して修理した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・製品交換: 初期不良などで新品と交換した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・修理不要: 電話・メールで使いかたやお手入れを案内して解決した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・異常なし: 修理を手配したが、点検の結果、故障ではなかった（保証期間内は送料・点検料を当社が負担）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・保証期間外の受付: 14%（修理代金はお客様負担）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4. 部品・工程の変更（変更点管理）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2026年9月度　社外秘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今月報告する部品・工程の変更はありません。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852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部品の調達先・材質・工程の条件を変えたときは、製造部がこの会議で報告する（変更点管理規程）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5. 対策の進捗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2026年9月度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6309360"/>
                <a:gridCol w="1463040"/>
                <a:gridCol w="1097280"/>
              </a:tblGrid>
              <a:tr h="6858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案件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状況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担当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期限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RC-500 途中で止まる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中間報告: 回収品12台のうち9台で温度ヒューズが溶断していた。溶断した温度ヒューズには、定格（145℃）より低い温度で作動するものがあった。どの範囲の製品が対象かは未確定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技術部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継続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6. 決定事項と次回までの宿題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2026年9月度　社外秘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・品質保証部は次回までに、対象となる範囲（ロット・台数）、取るべき対策と、その費用の目安をまとめる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・結論が出るまで、コールセンターは RC-500 の「途中で止まる」の受付をすべて引き取り修理で手配する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F3A5F"/>
                </a:solidFill>
                <a:latin typeface="Meiryo"/>
                <a:ea typeface="Meiryo"/>
                <a:cs typeface="Meiryo"/>
              </a:rPr>
              <a:t>次回: 2026年11月10日（火）（2026年10月度）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